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9144000"/>
  <p:embeddedFontLst>
    <p:embeddedFont>
      <p:font typeface="Bell MT" panose="02020503060305020303" pitchFamily="18" charset="0"/>
      <p:regular r:id="rId33"/>
      <p:bold r:id="rId34"/>
      <p:italic r:id="rId35"/>
      <p:boldItalic r:id="rId36"/>
    </p:embeddedFont>
    <p:embeddedFont>
      <p:font typeface="Calibri" panose="020F0502020204030204" pitchFamily="34" charset="0"/>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71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7.fntdata"/><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2" name="Google Shape;92;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9" name="Google Shape;99;p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4abfdb5fc2_1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4abfdb5fc2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3" name="Google Shape;113;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4abfdb5fc2_1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0" name="Google Shape;120;g4abfdb5fc2_1_7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4abfdb5fc2_1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8" name="Google Shape;128;g4abfdb5fc2_1_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4abfdb5fc2_1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5" name="Google Shape;135;g4abfdb5fc2_1_8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4a09de400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g4a09de4008_0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4a09de4008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9" name="Google Shape;149;g4a09de4008_0_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4a09de4008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6" name="Google Shape;156;g4a09de4008_0_1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4abfdb5fc2_1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3" name="Google Shape;163;g4abfdb5fc2_1_2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4abfdb5fc2_6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0" name="Google Shape;170;g4abfdb5fc2_6_1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4abfdb5fc2_6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7" name="Google Shape;177;g4abfdb5fc2_6_1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4abfdb5fc2_6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5" name="Google Shape;185;g4abfdb5fc2_6_2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4abfdb5fc2_6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3" name="Google Shape;193;g4abfdb5fc2_6_3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4abfdb5fc2_6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0" name="Google Shape;200;g4abfdb5fc2_6_5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4abfdb5fc2_6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7" name="Google Shape;207;g4abfdb5fc2_6_5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g4abfdb5fc2_6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5" name="Google Shape;215;g4abfdb5fc2_6_6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g4abfdb5fc2_6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4" name="Google Shape;224;g4abfdb5fc2_6_8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4abfdb5fc2_6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3" name="Google Shape;233;g4abfdb5fc2_6_9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g4abfdb5fc2_6_1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2" name="Google Shape;242;g4abfdb5fc2_6_10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g4abfdb5fc2_6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2" name="Google Shape;252;g4abfdb5fc2_6_4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g4a09de4008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9" name="Google Shape;259;g4a09de4008_0_2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6" name="Google Shape;266;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4a09de4008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0" name="Google Shape;280;g4a09de4008_0_5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4a09de4008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8" name="Google Shape;288;g4a09de4008_0_5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g4a09de4008_0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5" name="Google Shape;295;g4a09de4008_0_6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g4a09de4008_0_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2" name="Google Shape;302;g4a09de4008_0_7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lide de Título" type="title">
  <p:cSld name="TITLE">
    <p:spTree>
      <p:nvGrpSpPr>
        <p:cNvPr id="1" name="Shape 11"/>
        <p:cNvGrpSpPr/>
        <p:nvPr/>
      </p:nvGrpSpPr>
      <p:grpSpPr>
        <a:xfrm>
          <a:off x="0" y="0"/>
          <a:ext cx="0" cy="0"/>
          <a:chOff x="0" y="0"/>
          <a:chExt cx="0" cy="0"/>
        </a:xfrm>
      </p:grpSpPr>
      <p:sp>
        <p:nvSpPr>
          <p:cNvPr id="12" name="Google Shape;12;p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PT"/>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e Conteúdo" type="obj">
  <p:cSld name="OBJECT">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PT"/>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abeçalho da Seção" type="secHead">
  <p:cSld name="SECTION_HEADER">
    <p:spTree>
      <p:nvGrpSpPr>
        <p:cNvPr id="1" name="Shape 23"/>
        <p:cNvGrpSpPr/>
        <p:nvPr/>
      </p:nvGrpSpPr>
      <p:grpSpPr>
        <a:xfrm>
          <a:off x="0" y="0"/>
          <a:ext cx="0" cy="0"/>
          <a:chOff x="0" y="0"/>
          <a:chExt cx="0" cy="0"/>
        </a:xfrm>
      </p:grpSpPr>
      <p:sp>
        <p:nvSpPr>
          <p:cNvPr id="24" name="Google Shape;24;p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PT"/>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uas Partes de Conteúdo" type="twoObj">
  <p:cSld name="TWO_OBJECTS">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PT"/>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ção" type="twoTxTwoObj">
  <p:cSld name="TWO_OBJECTS_WITH_TEXT">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PT"/>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mente Título" type="titleOnly">
  <p:cSld name="TITLE_ONLY">
    <p:spTree>
      <p:nvGrpSpPr>
        <p:cNvPr id="1" name="Shape 45"/>
        <p:cNvGrpSpPr/>
        <p:nvPr/>
      </p:nvGrpSpPr>
      <p:grpSpPr>
        <a:xfrm>
          <a:off x="0" y="0"/>
          <a:ext cx="0" cy="0"/>
          <a:chOff x="0" y="0"/>
          <a:chExt cx="0" cy="0"/>
        </a:xfrm>
      </p:grpSpPr>
      <p:sp>
        <p:nvSpPr>
          <p:cNvPr id="46" name="Google Shape;4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PT"/>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m Branco" type="blank">
  <p:cSld name="BLANK">
    <p:spTree>
      <p:nvGrpSpPr>
        <p:cNvPr id="1" name="Shape 50"/>
        <p:cNvGrpSpPr/>
        <p:nvPr/>
      </p:nvGrpSpPr>
      <p:grpSpPr>
        <a:xfrm>
          <a:off x="0" y="0"/>
          <a:ext cx="0" cy="0"/>
          <a:chOff x="0" y="0"/>
          <a:chExt cx="0" cy="0"/>
        </a:xfrm>
      </p:grpSpPr>
      <p:sp>
        <p:nvSpPr>
          <p:cNvPr id="51" name="Google Shape;51;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PT"/>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údo com Legenda"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PT"/>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m com Legenda"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5183188" y="987425"/>
            <a:ext cx="6172200" cy="4873625"/>
          </a:xfrm>
          <a:prstGeom prst="rect">
            <a:avLst/>
          </a:prstGeom>
          <a:noFill/>
          <a:ln>
            <a:noFill/>
          </a:ln>
        </p:spPr>
        <p:txBody>
          <a:bodyPr spcFirstLastPara="1" wrap="square" lIns="91425" tIns="45700" rIns="91425" bIns="45700" anchor="t" anchorCtr="0"/>
          <a:lstStyle>
            <a:lvl1pPr marR="0" lvl="0" algn="l" rtl="0">
              <a:lnSpc>
                <a:spcPct val="90000"/>
              </a:lnSpc>
              <a:spcBef>
                <a:spcPts val="100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64" name="Google Shape;64;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PT"/>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e Texto Vertical"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PT"/>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exto e Título Vertical"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PT"/>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pt-PT"/>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3"/>
          <p:cNvSpPr txBox="1">
            <a:spLocks noGrp="1"/>
          </p:cNvSpPr>
          <p:nvPr>
            <p:ph type="ctrTitle"/>
          </p:nvPr>
        </p:nvSpPr>
        <p:spPr>
          <a:xfrm>
            <a:off x="1524000" y="1629004"/>
            <a:ext cx="9144000" cy="1312673"/>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chemeClr val="dk1"/>
              </a:buClr>
              <a:buSzPts val="8000"/>
              <a:buFont typeface="Bell MT"/>
              <a:buNone/>
            </a:pPr>
            <a:r>
              <a:rPr lang="pt-PT" sz="8000">
                <a:latin typeface="Bell MT"/>
                <a:ea typeface="Bell MT"/>
                <a:cs typeface="Bell MT"/>
                <a:sym typeface="Bell MT"/>
              </a:rPr>
              <a:t>Scapegoat Tree</a:t>
            </a:r>
            <a:endParaRPr/>
          </a:p>
        </p:txBody>
      </p:sp>
      <p:pic>
        <p:nvPicPr>
          <p:cNvPr id="85" name="Google Shape;85;p13"/>
          <p:cNvPicPr preferRelativeResize="0"/>
          <p:nvPr/>
        </p:nvPicPr>
        <p:blipFill rotWithShape="1">
          <a:blip r:embed="rId3">
            <a:alphaModFix/>
          </a:blip>
          <a:srcRect/>
          <a:stretch/>
        </p:blipFill>
        <p:spPr>
          <a:xfrm>
            <a:off x="7776593" y="3311708"/>
            <a:ext cx="3851300" cy="3546292"/>
          </a:xfrm>
          <a:prstGeom prst="rect">
            <a:avLst/>
          </a:prstGeom>
          <a:noFill/>
          <a:ln>
            <a:noFill/>
          </a:ln>
        </p:spPr>
      </p:pic>
      <p:sp>
        <p:nvSpPr>
          <p:cNvPr id="86" name="Google Shape;86;p13"/>
          <p:cNvSpPr txBox="1"/>
          <p:nvPr/>
        </p:nvSpPr>
        <p:spPr>
          <a:xfrm>
            <a:off x="423074" y="4004975"/>
            <a:ext cx="4563900" cy="12003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pt-PT" sz="1800" b="0" i="0" u="none" strike="noStrike" cap="none">
                <a:solidFill>
                  <a:schemeClr val="dk1"/>
                </a:solidFill>
                <a:latin typeface="Calibri"/>
                <a:ea typeface="Calibri"/>
                <a:cs typeface="Calibri"/>
                <a:sym typeface="Calibri"/>
              </a:rPr>
              <a:t>Oradores:</a:t>
            </a:r>
            <a:endParaRPr/>
          </a:p>
          <a:p>
            <a:pPr marL="0" marR="0" lvl="0" indent="0" algn="l" rtl="0">
              <a:spcBef>
                <a:spcPts val="0"/>
              </a:spcBef>
              <a:spcAft>
                <a:spcPts val="0"/>
              </a:spcAft>
              <a:buNone/>
            </a:pPr>
            <a:r>
              <a:rPr lang="pt-PT" sz="1800">
                <a:solidFill>
                  <a:schemeClr val="dk1"/>
                </a:solidFill>
                <a:latin typeface="Calibri"/>
                <a:ea typeface="Calibri"/>
                <a:cs typeface="Calibri"/>
                <a:sym typeface="Calibri"/>
              </a:rPr>
              <a:t>21270945 - Daniel Moreira Ribeiro</a:t>
            </a:r>
            <a:endParaRPr/>
          </a:p>
          <a:p>
            <a:pPr marL="0" marR="0" lvl="0" indent="0" algn="l" rtl="0">
              <a:spcBef>
                <a:spcPts val="0"/>
              </a:spcBef>
              <a:spcAft>
                <a:spcPts val="0"/>
              </a:spcAft>
              <a:buNone/>
            </a:pPr>
            <a:r>
              <a:rPr lang="pt-PT" sz="1800">
                <a:solidFill>
                  <a:schemeClr val="dk1"/>
                </a:solidFill>
                <a:latin typeface="Calibri"/>
                <a:ea typeface="Calibri"/>
                <a:cs typeface="Calibri"/>
                <a:sym typeface="Calibri"/>
              </a:rPr>
              <a:t>21260494 - José Pedra Sousa Santos</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pt-PT" sz="1800">
                <a:solidFill>
                  <a:schemeClr val="dk1"/>
                </a:solidFill>
                <a:latin typeface="Calibri"/>
                <a:ea typeface="Calibri"/>
                <a:cs typeface="Calibri"/>
                <a:sym typeface="Calibri"/>
              </a:rPr>
              <a:t>21250079-  Carlos Daniel Santos Figueiredo</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7" name="Google Shape;87;p13"/>
          <p:cNvSpPr txBox="1"/>
          <p:nvPr/>
        </p:nvSpPr>
        <p:spPr>
          <a:xfrm>
            <a:off x="423078" y="5971851"/>
            <a:ext cx="8958350" cy="64633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pt-PT" sz="1800">
                <a:solidFill>
                  <a:schemeClr val="dk1"/>
                </a:solidFill>
                <a:latin typeface="Calibri"/>
                <a:ea typeface="Calibri"/>
                <a:cs typeface="Calibri"/>
                <a:sym typeface="Calibri"/>
              </a:rPr>
              <a:t>Instituto Superior de Engenharia de Coimbra (ISEC) - Instituto Politécnico de Coimbra (IPC)</a:t>
            </a:r>
            <a:endParaRPr/>
          </a:p>
          <a:p>
            <a:pPr marL="0" marR="0" lvl="0" indent="0" algn="l" rtl="0">
              <a:spcBef>
                <a:spcPts val="0"/>
              </a:spcBef>
              <a:spcAft>
                <a:spcPts val="0"/>
              </a:spcAft>
              <a:buNone/>
            </a:pPr>
            <a:r>
              <a:rPr lang="pt-PT" sz="1800">
                <a:solidFill>
                  <a:schemeClr val="dk1"/>
                </a:solidFill>
                <a:latin typeface="Calibri"/>
                <a:ea typeface="Calibri"/>
                <a:cs typeface="Calibri"/>
                <a:sym typeface="Calibri"/>
              </a:rPr>
              <a:t>Ano letivo 2017/18 – Engenharia Informática - 3ºano - 1º Semestre - Estruturas de Dados</a:t>
            </a:r>
            <a:endParaRPr/>
          </a:p>
        </p:txBody>
      </p:sp>
      <p:sp>
        <p:nvSpPr>
          <p:cNvPr id="88" name="Google Shape;88;p13"/>
          <p:cNvSpPr txBox="1"/>
          <p:nvPr/>
        </p:nvSpPr>
        <p:spPr>
          <a:xfrm>
            <a:off x="423078" y="5265401"/>
            <a:ext cx="2886752" cy="64633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pt-PT" sz="1800">
                <a:solidFill>
                  <a:schemeClr val="dk1"/>
                </a:solidFill>
                <a:latin typeface="Calibri"/>
                <a:ea typeface="Calibri"/>
                <a:cs typeface="Calibri"/>
                <a:sym typeface="Calibri"/>
              </a:rPr>
              <a:t>Professor:</a:t>
            </a:r>
            <a:endParaRPr/>
          </a:p>
          <a:p>
            <a:pPr marL="0" marR="0" lvl="0" indent="0" algn="l" rtl="0">
              <a:spcBef>
                <a:spcPts val="0"/>
              </a:spcBef>
              <a:spcAft>
                <a:spcPts val="0"/>
              </a:spcAft>
              <a:buNone/>
            </a:pPr>
            <a:r>
              <a:rPr lang="pt-PT" sz="1800">
                <a:solidFill>
                  <a:schemeClr val="dk1"/>
                </a:solidFill>
                <a:latin typeface="Calibri"/>
                <a:ea typeface="Calibri"/>
                <a:cs typeface="Calibri"/>
                <a:sym typeface="Calibri"/>
              </a:rPr>
              <a:t>Jorge Miguel Sousa Barreiros</a:t>
            </a:r>
            <a:endParaRPr/>
          </a:p>
        </p:txBody>
      </p:sp>
      <p:pic>
        <p:nvPicPr>
          <p:cNvPr id="89" name="Google Shape;89;p13"/>
          <p:cNvPicPr preferRelativeResize="0"/>
          <p:nvPr/>
        </p:nvPicPr>
        <p:blipFill rotWithShape="1">
          <a:blip r:embed="rId4">
            <a:alphaModFix/>
          </a:blip>
          <a:srcRect/>
          <a:stretch/>
        </p:blipFill>
        <p:spPr>
          <a:xfrm>
            <a:off x="9465679" y="0"/>
            <a:ext cx="2726321" cy="131267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pt-PT"/>
              <a:t>Contextualização</a:t>
            </a:r>
            <a:endParaRPr/>
          </a:p>
        </p:txBody>
      </p:sp>
      <p:sp>
        <p:nvSpPr>
          <p:cNvPr id="95" name="Google Shape;95;p14"/>
          <p:cNvSpPr txBox="1">
            <a:spLocks noGrp="1"/>
          </p:cNvSpPr>
          <p:nvPr>
            <p:ph type="body" idx="1"/>
          </p:nvPr>
        </p:nvSpPr>
        <p:spPr>
          <a:xfrm>
            <a:off x="838200" y="1690700"/>
            <a:ext cx="10515600" cy="2246700"/>
          </a:xfrm>
          <a:prstGeom prst="rect">
            <a:avLst/>
          </a:prstGeom>
          <a:noFill/>
          <a:ln>
            <a:noFill/>
          </a:ln>
        </p:spPr>
        <p:txBody>
          <a:bodyPr spcFirstLastPara="1" wrap="square" lIns="91425" tIns="45700" rIns="91425" bIns="45700" anchor="t" anchorCtr="0">
            <a:noAutofit/>
          </a:bodyPr>
          <a:lstStyle/>
          <a:p>
            <a:pPr marL="228600" lvl="0" indent="-50800" algn="l" rtl="0">
              <a:lnSpc>
                <a:spcPct val="90000"/>
              </a:lnSpc>
              <a:spcBef>
                <a:spcPts val="0"/>
              </a:spcBef>
              <a:spcAft>
                <a:spcPts val="0"/>
              </a:spcAft>
              <a:buClr>
                <a:schemeClr val="dk1"/>
              </a:buClr>
              <a:buSzPts val="2800"/>
              <a:buNone/>
            </a:pPr>
            <a:r>
              <a:rPr lang="pt-PT"/>
              <a:t>Na ciência de computação, uma árvore scapegoat, é uma árvore de procura binária de auto equilíbrio, inventada por Arne Ardesson e mais tarde por Igal Galperin e Ronald L. Rivest.</a:t>
            </a:r>
            <a:endParaRPr/>
          </a:p>
          <a:p>
            <a:pPr marL="228600" lvl="0" indent="-50800" algn="l" rtl="0">
              <a:lnSpc>
                <a:spcPct val="90000"/>
              </a:lnSpc>
              <a:spcBef>
                <a:spcPts val="0"/>
              </a:spcBef>
              <a:spcAft>
                <a:spcPts val="0"/>
              </a:spcAft>
              <a:buClr>
                <a:schemeClr val="dk1"/>
              </a:buClr>
              <a:buSzPts val="2800"/>
              <a:buNone/>
            </a:pPr>
            <a:endParaRPr/>
          </a:p>
        </p:txBody>
      </p:sp>
      <p:pic>
        <p:nvPicPr>
          <p:cNvPr id="96" name="Google Shape;96;p14"/>
          <p:cNvPicPr preferRelativeResize="0"/>
          <p:nvPr/>
        </p:nvPicPr>
        <p:blipFill rotWithShape="1">
          <a:blip r:embed="rId3">
            <a:alphaModFix/>
          </a:blip>
          <a:srcRect/>
          <a:stretch/>
        </p:blipFill>
        <p:spPr>
          <a:xfrm>
            <a:off x="5467029" y="6252954"/>
            <a:ext cx="1257941" cy="6050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5"/>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pt-PT"/>
              <a:t>Contextualização</a:t>
            </a:r>
            <a:endParaRPr/>
          </a:p>
        </p:txBody>
      </p:sp>
      <p:sp>
        <p:nvSpPr>
          <p:cNvPr id="102" name="Google Shape;102;p1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Autofit/>
          </a:bodyPr>
          <a:lstStyle/>
          <a:p>
            <a:pPr marL="457200" lvl="0" indent="-342900" algn="l" rtl="0">
              <a:lnSpc>
                <a:spcPct val="90000"/>
              </a:lnSpc>
              <a:spcBef>
                <a:spcPts val="0"/>
              </a:spcBef>
              <a:spcAft>
                <a:spcPts val="0"/>
              </a:spcAft>
              <a:buSzPts val="1800"/>
              <a:buChar char="•"/>
            </a:pPr>
            <a:r>
              <a:rPr lang="pt-PT"/>
              <a:t>Ao contrário da maioria das árvores binárias de auto equilíbrio, que fornecem, nos piores dos casos, um tempo de procura O(log n), as árvores scapegoat não têm uma sobrecarga adicional por nó na memória, comparando com outras árvores de pesquisa binárias.</a:t>
            </a:r>
            <a:endParaRPr/>
          </a:p>
          <a:p>
            <a:pPr marL="457200" lvl="0" indent="0" algn="l" rtl="0">
              <a:lnSpc>
                <a:spcPct val="90000"/>
              </a:lnSpc>
              <a:spcBef>
                <a:spcPts val="0"/>
              </a:spcBef>
              <a:spcAft>
                <a:spcPts val="0"/>
              </a:spcAft>
              <a:buNone/>
            </a:pPr>
            <a:endParaRPr/>
          </a:p>
          <a:p>
            <a:pPr marL="457200" lvl="0" indent="-342900" algn="l" rtl="0">
              <a:lnSpc>
                <a:spcPct val="90000"/>
              </a:lnSpc>
              <a:spcBef>
                <a:spcPts val="0"/>
              </a:spcBef>
              <a:spcAft>
                <a:spcPts val="0"/>
              </a:spcAft>
              <a:buSzPts val="1800"/>
              <a:buChar char="•"/>
            </a:pPr>
            <a:r>
              <a:rPr lang="pt-PT"/>
              <a:t>Nestas árvores cada nó só armazena uma chave e dois ponteiros para os seus nós filhos</a:t>
            </a:r>
            <a:endParaRPr/>
          </a:p>
          <a:p>
            <a:pPr marL="914400" lvl="1" indent="-342900" algn="l" rtl="0">
              <a:lnSpc>
                <a:spcPct val="90000"/>
              </a:lnSpc>
              <a:spcBef>
                <a:spcPts val="0"/>
              </a:spcBef>
              <a:spcAft>
                <a:spcPts val="0"/>
              </a:spcAft>
              <a:buSzPts val="1800"/>
              <a:buChar char="•"/>
            </a:pPr>
            <a:r>
              <a:rPr lang="pt-PT"/>
              <a:t>isto torna as árvores scapegoat mais fáceis de implementar e pode reduzir a sobrecarga de um nó até um terço, devido ao alinhamento da estrutura de dados.</a:t>
            </a:r>
            <a:endParaRPr/>
          </a:p>
        </p:txBody>
      </p:sp>
      <p:pic>
        <p:nvPicPr>
          <p:cNvPr id="103" name="Google Shape;103;p15"/>
          <p:cNvPicPr preferRelativeResize="0"/>
          <p:nvPr/>
        </p:nvPicPr>
        <p:blipFill rotWithShape="1">
          <a:blip r:embed="rId3">
            <a:alphaModFix/>
          </a:blip>
          <a:srcRect/>
          <a:stretch/>
        </p:blipFill>
        <p:spPr>
          <a:xfrm>
            <a:off x="5467029" y="6252954"/>
            <a:ext cx="1257941" cy="6050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6"/>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pt-PT"/>
              <a:t>Treaps and skiplists</a:t>
            </a:r>
            <a:endParaRPr/>
          </a:p>
        </p:txBody>
      </p:sp>
      <p:sp>
        <p:nvSpPr>
          <p:cNvPr id="109" name="Google Shape;109;p16"/>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Autofit/>
          </a:bodyPr>
          <a:lstStyle/>
          <a:p>
            <a:pPr marL="0" lvl="0" indent="0" algn="l" rtl="0">
              <a:spcBef>
                <a:spcPts val="1000"/>
              </a:spcBef>
              <a:spcAft>
                <a:spcPts val="0"/>
              </a:spcAft>
              <a:buNone/>
            </a:pPr>
            <a:r>
              <a:rPr lang="pt-PT"/>
              <a:t>Já vimos treaps e skiplists</a:t>
            </a:r>
            <a:endParaRPr/>
          </a:p>
          <a:p>
            <a:pPr marL="457200" lvl="0" indent="-342900" algn="l" rtl="0">
              <a:spcBef>
                <a:spcPts val="1000"/>
              </a:spcBef>
              <a:spcAft>
                <a:spcPts val="0"/>
              </a:spcAft>
              <a:buSzPts val="1800"/>
              <a:buChar char="•"/>
            </a:pPr>
            <a:r>
              <a:rPr lang="pt-PT"/>
              <a:t>Estruturas randomizadas</a:t>
            </a:r>
            <a:endParaRPr/>
          </a:p>
          <a:p>
            <a:pPr marL="457200" lvl="0" indent="-342900" algn="l" rtl="0">
              <a:spcBef>
                <a:spcPts val="0"/>
              </a:spcBef>
              <a:spcAft>
                <a:spcPts val="0"/>
              </a:spcAft>
              <a:buSzPts val="1800"/>
              <a:buChar char="•"/>
            </a:pPr>
            <a:r>
              <a:rPr lang="pt-PT"/>
              <a:t>Tempo esperado de Insert, delete e procura em O(log n)</a:t>
            </a:r>
            <a:endParaRPr/>
          </a:p>
          <a:p>
            <a:pPr marL="457200" lvl="0" indent="-342900" algn="l" rtl="0">
              <a:spcBef>
                <a:spcPts val="0"/>
              </a:spcBef>
              <a:spcAft>
                <a:spcPts val="0"/>
              </a:spcAft>
              <a:buSzPts val="1800"/>
              <a:buChar char="•"/>
            </a:pPr>
            <a:r>
              <a:rPr lang="pt-PT"/>
              <a:t>Expectativa depende das escolhas random feitas pela data structure</a:t>
            </a:r>
            <a:endParaRPr/>
          </a:p>
          <a:p>
            <a:pPr marL="2286000" lvl="1" indent="-342900" algn="l" rtl="0">
              <a:spcBef>
                <a:spcPts val="0"/>
              </a:spcBef>
              <a:spcAft>
                <a:spcPts val="0"/>
              </a:spcAft>
              <a:buSzPts val="1800"/>
              <a:buChar char="•"/>
            </a:pPr>
            <a:r>
              <a:rPr lang="pt-PT"/>
              <a:t>Jogadas feitas pela skiplist</a:t>
            </a:r>
            <a:endParaRPr/>
          </a:p>
          <a:p>
            <a:pPr marL="2286000" lvl="1" indent="-342900" algn="l" rtl="0">
              <a:spcBef>
                <a:spcPts val="0"/>
              </a:spcBef>
              <a:spcAft>
                <a:spcPts val="0"/>
              </a:spcAft>
              <a:buSzPts val="1800"/>
              <a:buChar char="•"/>
            </a:pPr>
            <a:r>
              <a:rPr lang="pt-PT"/>
              <a:t>Prioridades random atribuídas pela treap</a:t>
            </a:r>
            <a:endParaRPr/>
          </a:p>
        </p:txBody>
      </p:sp>
      <p:pic>
        <p:nvPicPr>
          <p:cNvPr id="110" name="Google Shape;110;p16"/>
          <p:cNvPicPr preferRelativeResize="0"/>
          <p:nvPr/>
        </p:nvPicPr>
        <p:blipFill rotWithShape="1">
          <a:blip r:embed="rId3">
            <a:alphaModFix/>
          </a:blip>
          <a:srcRect/>
          <a:stretch/>
        </p:blipFill>
        <p:spPr>
          <a:xfrm>
            <a:off x="5467029" y="6311629"/>
            <a:ext cx="1257941" cy="6050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pt-PT"/>
              <a:t>Scapegoat trees</a:t>
            </a:r>
            <a:endParaRPr/>
          </a:p>
        </p:txBody>
      </p:sp>
      <p:sp>
        <p:nvSpPr>
          <p:cNvPr id="116" name="Google Shape;116;p1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p>
            <a:pPr marL="457200" lvl="0" indent="-342900" algn="l" rtl="0">
              <a:spcBef>
                <a:spcPts val="1000"/>
              </a:spcBef>
              <a:spcAft>
                <a:spcPts val="0"/>
              </a:spcAft>
              <a:buSzPts val="1800"/>
              <a:buChar char="•"/>
            </a:pPr>
            <a:r>
              <a:rPr lang="pt-PT"/>
              <a:t>Data structure determinista</a:t>
            </a:r>
            <a:endParaRPr/>
          </a:p>
          <a:p>
            <a:pPr marL="457200" lvl="0" indent="-342900" algn="l" rtl="0">
              <a:spcBef>
                <a:spcPts val="0"/>
              </a:spcBef>
              <a:spcAft>
                <a:spcPts val="0"/>
              </a:spcAft>
              <a:buSzPts val="1800"/>
              <a:buChar char="•"/>
            </a:pPr>
            <a:r>
              <a:rPr lang="pt-PT"/>
              <a:t>Lazy data structure </a:t>
            </a:r>
            <a:endParaRPr/>
          </a:p>
          <a:p>
            <a:pPr marL="914400" lvl="1" indent="-342900" algn="l" rtl="0">
              <a:spcBef>
                <a:spcPts val="0"/>
              </a:spcBef>
              <a:spcAft>
                <a:spcPts val="0"/>
              </a:spcAft>
              <a:buSzPts val="1800"/>
              <a:buChar char="•"/>
            </a:pPr>
            <a:r>
              <a:rPr lang="pt-PT"/>
              <a:t>Funciona quando a procura dos caminhos se torna demasiado longa </a:t>
            </a:r>
            <a:endParaRPr/>
          </a:p>
          <a:p>
            <a:pPr marL="457200" lvl="0" indent="-342900" algn="l" rtl="0">
              <a:spcBef>
                <a:spcPts val="0"/>
              </a:spcBef>
              <a:spcAft>
                <a:spcPts val="0"/>
              </a:spcAft>
              <a:buSzPts val="1800"/>
              <a:buChar char="•"/>
            </a:pPr>
            <a:r>
              <a:rPr lang="pt-PT"/>
              <a:t>Procura em O(log n) no pior tempo </a:t>
            </a:r>
            <a:endParaRPr/>
          </a:p>
          <a:p>
            <a:pPr marL="457200" lvl="0" indent="-342900" algn="l" rtl="0">
              <a:spcBef>
                <a:spcPts val="0"/>
              </a:spcBef>
              <a:spcAft>
                <a:spcPts val="0"/>
              </a:spcAft>
              <a:buSzPts val="1800"/>
              <a:buChar char="•"/>
            </a:pPr>
            <a:r>
              <a:rPr lang="pt-PT"/>
              <a:t>Insert ou/e delete em O(log n) tempo amortizado </a:t>
            </a:r>
            <a:endParaRPr/>
          </a:p>
          <a:p>
            <a:pPr marL="914400" lvl="1" indent="-342900" algn="l" rtl="0">
              <a:spcBef>
                <a:spcPts val="0"/>
              </a:spcBef>
              <a:spcAft>
                <a:spcPts val="0"/>
              </a:spcAft>
              <a:buSzPts val="1800"/>
              <a:buChar char="•"/>
            </a:pPr>
            <a:r>
              <a:rPr lang="pt-PT"/>
              <a:t>Começa com uma scapegoat tree vazia, a sequência de m inserções e eliminações demora O(m log n) tempo, sendo n o número máximo de elementos alocados na árvore em qualquer tempo</a:t>
            </a:r>
            <a:endParaRPr/>
          </a:p>
        </p:txBody>
      </p:sp>
      <p:pic>
        <p:nvPicPr>
          <p:cNvPr id="117" name="Google Shape;117;p17"/>
          <p:cNvPicPr preferRelativeResize="0"/>
          <p:nvPr/>
        </p:nvPicPr>
        <p:blipFill rotWithShape="1">
          <a:blip r:embed="rId3">
            <a:alphaModFix/>
          </a:blip>
          <a:srcRect/>
          <a:stretch/>
        </p:blipFill>
        <p:spPr>
          <a:xfrm>
            <a:off x="5467029" y="6252954"/>
            <a:ext cx="1257941" cy="6050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18"/>
          <p:cNvSpPr txBox="1">
            <a:spLocks noGrp="1"/>
          </p:cNvSpPr>
          <p:nvPr>
            <p:ph type="body" idx="1"/>
          </p:nvPr>
        </p:nvSpPr>
        <p:spPr>
          <a:xfrm>
            <a:off x="691450" y="250300"/>
            <a:ext cx="11045400" cy="7758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1000"/>
              </a:spcBef>
              <a:spcAft>
                <a:spcPts val="0"/>
              </a:spcAft>
              <a:buNone/>
            </a:pPr>
            <a:r>
              <a:rPr lang="pt-PT" sz="3000"/>
              <a:t>Será isto uma boa árvore de pesquisa binária?</a:t>
            </a:r>
            <a:endParaRPr sz="2400"/>
          </a:p>
        </p:txBody>
      </p:sp>
      <p:pic>
        <p:nvPicPr>
          <p:cNvPr id="123" name="Google Shape;123;p18"/>
          <p:cNvPicPr preferRelativeResize="0"/>
          <p:nvPr/>
        </p:nvPicPr>
        <p:blipFill rotWithShape="1">
          <a:blip r:embed="rId3">
            <a:alphaModFix/>
          </a:blip>
          <a:srcRect/>
          <a:stretch/>
        </p:blipFill>
        <p:spPr>
          <a:xfrm>
            <a:off x="5467029" y="6252954"/>
            <a:ext cx="1257941" cy="605050"/>
          </a:xfrm>
          <a:prstGeom prst="rect">
            <a:avLst/>
          </a:prstGeom>
          <a:noFill/>
          <a:ln>
            <a:noFill/>
          </a:ln>
        </p:spPr>
      </p:pic>
      <p:pic>
        <p:nvPicPr>
          <p:cNvPr id="124" name="Google Shape;124;p18"/>
          <p:cNvPicPr preferRelativeResize="0"/>
          <p:nvPr/>
        </p:nvPicPr>
        <p:blipFill>
          <a:blip r:embed="rId4">
            <a:alphaModFix/>
          </a:blip>
          <a:stretch>
            <a:fillRect/>
          </a:stretch>
        </p:blipFill>
        <p:spPr>
          <a:xfrm>
            <a:off x="3147299" y="1026100"/>
            <a:ext cx="5897401" cy="3028400"/>
          </a:xfrm>
          <a:prstGeom prst="rect">
            <a:avLst/>
          </a:prstGeom>
          <a:noFill/>
          <a:ln>
            <a:noFill/>
          </a:ln>
        </p:spPr>
      </p:pic>
      <p:sp>
        <p:nvSpPr>
          <p:cNvPr id="125" name="Google Shape;125;p18"/>
          <p:cNvSpPr txBox="1"/>
          <p:nvPr/>
        </p:nvSpPr>
        <p:spPr>
          <a:xfrm>
            <a:off x="691450" y="4304075"/>
            <a:ext cx="11045400" cy="1948800"/>
          </a:xfrm>
          <a:prstGeom prst="rect">
            <a:avLst/>
          </a:prstGeom>
          <a:noFill/>
          <a:ln>
            <a:noFill/>
          </a:ln>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Char char="•"/>
            </a:pPr>
            <a:r>
              <a:rPr lang="pt-PT" sz="2400">
                <a:solidFill>
                  <a:schemeClr val="dk1"/>
                </a:solidFill>
                <a:latin typeface="Calibri"/>
                <a:ea typeface="Calibri"/>
                <a:cs typeface="Calibri"/>
                <a:sym typeface="Calibri"/>
              </a:rPr>
              <a:t>Tem 17 nós e 5 níveis</a:t>
            </a:r>
            <a:endParaRPr sz="2400">
              <a:solidFill>
                <a:schemeClr val="dk1"/>
              </a:solidFill>
              <a:latin typeface="Calibri"/>
              <a:ea typeface="Calibri"/>
              <a:cs typeface="Calibri"/>
              <a:sym typeface="Calibri"/>
            </a:endParaRPr>
          </a:p>
          <a:p>
            <a:pPr marL="914400" lvl="1" indent="-381000" algn="l" rtl="0">
              <a:lnSpc>
                <a:spcPct val="90000"/>
              </a:lnSpc>
              <a:spcBef>
                <a:spcPts val="0"/>
              </a:spcBef>
              <a:spcAft>
                <a:spcPts val="0"/>
              </a:spcAft>
              <a:buClr>
                <a:schemeClr val="dk1"/>
              </a:buClr>
              <a:buSzPts val="2400"/>
              <a:buChar char="•"/>
            </a:pPr>
            <a:r>
              <a:rPr lang="pt-PT" sz="2400">
                <a:solidFill>
                  <a:schemeClr val="dk1"/>
                </a:solidFill>
                <a:latin typeface="Calibri"/>
                <a:ea typeface="Calibri"/>
                <a:cs typeface="Calibri"/>
                <a:sym typeface="Calibri"/>
              </a:rPr>
              <a:t>Qualquer árvore binária com 17 nós tem, no mínimo, 5 níveis</a:t>
            </a:r>
            <a:br>
              <a:rPr lang="pt-PT" sz="2400">
                <a:solidFill>
                  <a:schemeClr val="dk1"/>
                </a:solidFill>
                <a:latin typeface="Calibri"/>
                <a:ea typeface="Calibri"/>
                <a:cs typeface="Calibri"/>
                <a:sym typeface="Calibri"/>
              </a:rPr>
            </a:br>
            <a:r>
              <a:rPr lang="pt-PT" sz="2400">
                <a:solidFill>
                  <a:schemeClr val="dk1"/>
                </a:solidFill>
                <a:latin typeface="Calibri"/>
                <a:ea typeface="Calibri"/>
                <a:cs typeface="Calibri"/>
                <a:sym typeface="Calibri"/>
              </a:rPr>
              <a:t>	</a:t>
            </a:r>
            <a:r>
              <a:rPr lang="pt-PT" sz="1800">
                <a:solidFill>
                  <a:schemeClr val="dk1"/>
                </a:solidFill>
                <a:latin typeface="Calibri"/>
                <a:ea typeface="Calibri"/>
                <a:cs typeface="Calibri"/>
                <a:sym typeface="Calibri"/>
              </a:rPr>
              <a:t>(uma árvore binária com 4 níveis tem no máximo (2^4) - 1 = 15 nós)</a:t>
            </a:r>
            <a:endParaRPr sz="1800">
              <a:solidFill>
                <a:schemeClr val="dk1"/>
              </a:solidFill>
              <a:latin typeface="Calibri"/>
              <a:ea typeface="Calibri"/>
              <a:cs typeface="Calibri"/>
              <a:sym typeface="Calibri"/>
            </a:endParaRPr>
          </a:p>
          <a:p>
            <a:pPr marL="0" lvl="0" indent="0" algn="l" rtl="0">
              <a:lnSpc>
                <a:spcPct val="90000"/>
              </a:lnSpc>
              <a:spcBef>
                <a:spcPts val="1000"/>
              </a:spcBef>
              <a:spcAft>
                <a:spcPts val="0"/>
              </a:spcAft>
              <a:buClr>
                <a:schemeClr val="dk1"/>
              </a:buClr>
              <a:buSzPts val="1100"/>
              <a:buFont typeface="Arial"/>
              <a:buNone/>
            </a:pPr>
            <a:r>
              <a:rPr lang="pt-PT" sz="2400">
                <a:solidFill>
                  <a:schemeClr val="dk1"/>
                </a:solidFill>
                <a:latin typeface="Calibri"/>
                <a:ea typeface="Calibri"/>
                <a:cs typeface="Calibri"/>
                <a:sym typeface="Calibri"/>
              </a:rPr>
              <a:t>Esta árvore é ótima!</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19"/>
          <p:cNvSpPr txBox="1">
            <a:spLocks noGrp="1"/>
          </p:cNvSpPr>
          <p:nvPr>
            <p:ph type="body" idx="1"/>
          </p:nvPr>
        </p:nvSpPr>
        <p:spPr>
          <a:xfrm>
            <a:off x="691450" y="250300"/>
            <a:ext cx="11045400" cy="59763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1000"/>
              </a:spcBef>
              <a:spcAft>
                <a:spcPts val="0"/>
              </a:spcAft>
              <a:buNone/>
            </a:pPr>
            <a:r>
              <a:rPr lang="pt-PT" sz="2400"/>
              <a:t>De lembrar que uma árvore de pesquisa binária aleatória tem uma altura esperada de O (log n) </a:t>
            </a:r>
            <a:endParaRPr sz="2400"/>
          </a:p>
          <a:p>
            <a:pPr marL="0" marR="0" lvl="0" indent="0" algn="l" rtl="0">
              <a:lnSpc>
                <a:spcPct val="90000"/>
              </a:lnSpc>
              <a:spcBef>
                <a:spcPts val="1000"/>
              </a:spcBef>
              <a:spcAft>
                <a:spcPts val="0"/>
              </a:spcAft>
              <a:buNone/>
            </a:pPr>
            <a:endParaRPr sz="2400"/>
          </a:p>
          <a:p>
            <a:pPr marL="0" marR="0" lvl="0" indent="0" algn="l" rtl="0">
              <a:lnSpc>
                <a:spcPct val="90000"/>
              </a:lnSpc>
              <a:spcBef>
                <a:spcPts val="1000"/>
              </a:spcBef>
              <a:spcAft>
                <a:spcPts val="0"/>
              </a:spcAft>
              <a:buNone/>
            </a:pPr>
            <a:endParaRPr sz="2400"/>
          </a:p>
          <a:p>
            <a:pPr marL="0" marR="0" lvl="0" indent="0" algn="l" rtl="0">
              <a:lnSpc>
                <a:spcPct val="90000"/>
              </a:lnSpc>
              <a:spcBef>
                <a:spcPts val="1000"/>
              </a:spcBef>
              <a:spcAft>
                <a:spcPts val="0"/>
              </a:spcAft>
              <a:buNone/>
            </a:pPr>
            <a:endParaRPr sz="2400"/>
          </a:p>
          <a:p>
            <a:pPr marL="0" marR="0" lvl="0" indent="0" algn="l" rtl="0">
              <a:lnSpc>
                <a:spcPct val="90000"/>
              </a:lnSpc>
              <a:spcBef>
                <a:spcPts val="1000"/>
              </a:spcBef>
              <a:spcAft>
                <a:spcPts val="0"/>
              </a:spcAft>
              <a:buNone/>
            </a:pPr>
            <a:endParaRPr sz="2400"/>
          </a:p>
          <a:p>
            <a:pPr marL="0" marR="0" lvl="0" indent="0" algn="l" rtl="0">
              <a:lnSpc>
                <a:spcPct val="90000"/>
              </a:lnSpc>
              <a:spcBef>
                <a:spcPts val="1000"/>
              </a:spcBef>
              <a:spcAft>
                <a:spcPts val="0"/>
              </a:spcAft>
              <a:buNone/>
            </a:pPr>
            <a:endParaRPr sz="2400"/>
          </a:p>
          <a:p>
            <a:pPr marL="0" marR="0" lvl="0" indent="0" algn="l" rtl="0">
              <a:lnSpc>
                <a:spcPct val="90000"/>
              </a:lnSpc>
              <a:spcBef>
                <a:spcPts val="1000"/>
              </a:spcBef>
              <a:spcAft>
                <a:spcPts val="0"/>
              </a:spcAft>
              <a:buNone/>
            </a:pPr>
            <a:endParaRPr sz="2400"/>
          </a:p>
          <a:p>
            <a:pPr marL="0" marR="0" lvl="0" indent="0" algn="l" rtl="0">
              <a:lnSpc>
                <a:spcPct val="90000"/>
              </a:lnSpc>
              <a:spcBef>
                <a:spcPts val="1000"/>
              </a:spcBef>
              <a:spcAft>
                <a:spcPts val="0"/>
              </a:spcAft>
              <a:buNone/>
            </a:pPr>
            <a:endParaRPr sz="2400"/>
          </a:p>
          <a:p>
            <a:pPr marL="457200" marR="0" lvl="0" indent="-381000" algn="l" rtl="0">
              <a:lnSpc>
                <a:spcPct val="90000"/>
              </a:lnSpc>
              <a:spcBef>
                <a:spcPts val="1000"/>
              </a:spcBef>
              <a:spcAft>
                <a:spcPts val="0"/>
              </a:spcAft>
              <a:buSzPts val="2400"/>
              <a:buChar char="•"/>
            </a:pPr>
            <a:r>
              <a:rPr lang="pt-PT" sz="2400"/>
              <a:t>Outra forma de interpretar: Para a maioria de sequências de inserção, a altura da árvore resultante é O(log n)</a:t>
            </a:r>
            <a:endParaRPr sz="2400"/>
          </a:p>
          <a:p>
            <a:pPr marL="914400" marR="0" lvl="1" indent="-381000" algn="l" rtl="0">
              <a:lnSpc>
                <a:spcPct val="90000"/>
              </a:lnSpc>
              <a:spcBef>
                <a:spcPts val="0"/>
              </a:spcBef>
              <a:spcAft>
                <a:spcPts val="0"/>
              </a:spcAft>
              <a:buSzPts val="2400"/>
              <a:buChar char="•"/>
            </a:pPr>
            <a:r>
              <a:rPr lang="pt-PT"/>
              <a:t>Para a maioria das sequências de inserção, não somos forçados a fazer o rebalanceamento para conseguir que a árvore tenha altura O(log n)</a:t>
            </a:r>
            <a:endParaRPr sz="2400"/>
          </a:p>
        </p:txBody>
      </p:sp>
      <p:pic>
        <p:nvPicPr>
          <p:cNvPr id="131" name="Google Shape;131;p19"/>
          <p:cNvPicPr preferRelativeResize="0"/>
          <p:nvPr/>
        </p:nvPicPr>
        <p:blipFill rotWithShape="1">
          <a:blip r:embed="rId3">
            <a:alphaModFix/>
          </a:blip>
          <a:srcRect/>
          <a:stretch/>
        </p:blipFill>
        <p:spPr>
          <a:xfrm>
            <a:off x="5320279" y="6226554"/>
            <a:ext cx="1257941" cy="605050"/>
          </a:xfrm>
          <a:prstGeom prst="rect">
            <a:avLst/>
          </a:prstGeom>
          <a:noFill/>
          <a:ln>
            <a:noFill/>
          </a:ln>
        </p:spPr>
      </p:pic>
      <p:pic>
        <p:nvPicPr>
          <p:cNvPr id="132" name="Google Shape;132;p19"/>
          <p:cNvPicPr preferRelativeResize="0"/>
          <p:nvPr/>
        </p:nvPicPr>
        <p:blipFill>
          <a:blip r:embed="rId4">
            <a:alphaModFix/>
          </a:blip>
          <a:stretch>
            <a:fillRect/>
          </a:stretch>
        </p:blipFill>
        <p:spPr>
          <a:xfrm>
            <a:off x="3693863" y="903880"/>
            <a:ext cx="4510776" cy="34557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20"/>
          <p:cNvSpPr txBox="1">
            <a:spLocks noGrp="1"/>
          </p:cNvSpPr>
          <p:nvPr>
            <p:ph type="body" idx="1"/>
          </p:nvPr>
        </p:nvSpPr>
        <p:spPr>
          <a:xfrm>
            <a:off x="691450" y="250300"/>
            <a:ext cx="11045400" cy="2823600"/>
          </a:xfrm>
          <a:prstGeom prst="rect">
            <a:avLst/>
          </a:prstGeom>
          <a:noFill/>
          <a:ln>
            <a:noFill/>
          </a:ln>
        </p:spPr>
        <p:txBody>
          <a:bodyPr spcFirstLastPara="1" wrap="square" lIns="91425" tIns="45700" rIns="91425" bIns="45700" anchor="t" anchorCtr="0">
            <a:noAutofit/>
          </a:bodyPr>
          <a:lstStyle/>
          <a:p>
            <a:pPr marL="457200" marR="0" lvl="0" indent="-381000" algn="l" rtl="0">
              <a:lnSpc>
                <a:spcPct val="90000"/>
              </a:lnSpc>
              <a:spcBef>
                <a:spcPts val="1000"/>
              </a:spcBef>
              <a:spcAft>
                <a:spcPts val="0"/>
              </a:spcAft>
              <a:buSzPts val="2400"/>
              <a:buChar char="•"/>
            </a:pPr>
            <a:r>
              <a:rPr lang="pt-PT" sz="2400"/>
              <a:t>As Scapegoat trees têm dois contadores: </a:t>
            </a:r>
            <a:endParaRPr sz="2400"/>
          </a:p>
          <a:p>
            <a:pPr marL="914400" marR="0" lvl="1" indent="-381000" algn="l" rtl="0">
              <a:lnSpc>
                <a:spcPct val="90000"/>
              </a:lnSpc>
              <a:spcBef>
                <a:spcPts val="0"/>
              </a:spcBef>
              <a:spcAft>
                <a:spcPts val="0"/>
              </a:spcAft>
              <a:buSzPts val="2400"/>
              <a:buChar char="•"/>
            </a:pPr>
            <a:r>
              <a:rPr lang="pt-PT" sz="2400"/>
              <a:t>n: </a:t>
            </a:r>
            <a:r>
              <a:rPr lang="pt-PT"/>
              <a:t>número de nós na árvore</a:t>
            </a:r>
            <a:endParaRPr/>
          </a:p>
          <a:p>
            <a:pPr marL="914400" marR="0" lvl="1" indent="-381000" algn="l" rtl="0">
              <a:lnSpc>
                <a:spcPct val="90000"/>
              </a:lnSpc>
              <a:spcBef>
                <a:spcPts val="0"/>
              </a:spcBef>
              <a:spcAft>
                <a:spcPts val="0"/>
              </a:spcAft>
              <a:buSzPts val="2400"/>
              <a:buChar char="•"/>
            </a:pPr>
            <a:r>
              <a:rPr lang="pt-PT" sz="2400"/>
              <a:t>q: </a:t>
            </a:r>
            <a:r>
              <a:rPr lang="pt-PT"/>
              <a:t>uma aproximação de</a:t>
            </a:r>
            <a:r>
              <a:rPr lang="pt-PT" sz="2400"/>
              <a:t> n </a:t>
            </a:r>
            <a:endParaRPr sz="2400"/>
          </a:p>
          <a:p>
            <a:pPr marL="0" marR="0" lvl="0" indent="0" algn="l" rtl="0">
              <a:lnSpc>
                <a:spcPct val="90000"/>
              </a:lnSpc>
              <a:spcBef>
                <a:spcPts val="1000"/>
              </a:spcBef>
              <a:spcAft>
                <a:spcPts val="0"/>
              </a:spcAft>
              <a:buNone/>
            </a:pPr>
            <a:r>
              <a:rPr lang="pt-PT" sz="2400"/>
              <a:t>Assim: </a:t>
            </a:r>
            <a:endParaRPr sz="2400"/>
          </a:p>
          <a:p>
            <a:pPr marL="914400" marR="0" lvl="1" indent="-381000" algn="l" rtl="0">
              <a:lnSpc>
                <a:spcPct val="90000"/>
              </a:lnSpc>
              <a:spcBef>
                <a:spcPts val="1000"/>
              </a:spcBef>
              <a:spcAft>
                <a:spcPts val="0"/>
              </a:spcAft>
              <a:buSzPts val="2400"/>
              <a:buChar char="•"/>
            </a:pPr>
            <a:r>
              <a:rPr lang="pt-PT" sz="2400"/>
              <a:t>q / 2 ≤ n ≤ q </a:t>
            </a:r>
            <a:endParaRPr sz="2400"/>
          </a:p>
          <a:p>
            <a:pPr marL="914400" marR="0" lvl="1" indent="-381000" algn="l" rtl="0">
              <a:lnSpc>
                <a:spcPct val="90000"/>
              </a:lnSpc>
              <a:spcBef>
                <a:spcPts val="0"/>
              </a:spcBef>
              <a:spcAft>
                <a:spcPts val="0"/>
              </a:spcAft>
              <a:buSzPts val="2400"/>
              <a:buChar char="•"/>
            </a:pPr>
            <a:r>
              <a:rPr lang="pt-PT"/>
              <a:t>Nenhum nó tem profundidade maior que</a:t>
            </a:r>
            <a:r>
              <a:rPr lang="pt-PT" sz="2400"/>
              <a:t> </a:t>
            </a:r>
            <a:r>
              <a:rPr lang="pt-PT">
                <a:latin typeface="Arial"/>
                <a:ea typeface="Arial"/>
                <a:cs typeface="Arial"/>
                <a:sym typeface="Arial"/>
              </a:rPr>
              <a:t>log</a:t>
            </a:r>
            <a:r>
              <a:rPr lang="pt-PT" baseline="-25000">
                <a:latin typeface="Arial"/>
                <a:ea typeface="Arial"/>
                <a:cs typeface="Arial"/>
                <a:sym typeface="Arial"/>
              </a:rPr>
              <a:t>3/2</a:t>
            </a:r>
            <a:r>
              <a:rPr lang="pt-PT" sz="2400"/>
              <a:t> q</a:t>
            </a:r>
            <a:endParaRPr sz="2400"/>
          </a:p>
        </p:txBody>
      </p:sp>
      <p:pic>
        <p:nvPicPr>
          <p:cNvPr id="138" name="Google Shape;138;p20"/>
          <p:cNvPicPr preferRelativeResize="0"/>
          <p:nvPr/>
        </p:nvPicPr>
        <p:blipFill rotWithShape="1">
          <a:blip r:embed="rId3">
            <a:alphaModFix/>
          </a:blip>
          <a:srcRect/>
          <a:stretch/>
        </p:blipFill>
        <p:spPr>
          <a:xfrm>
            <a:off x="5320279" y="6226554"/>
            <a:ext cx="1257941" cy="605050"/>
          </a:xfrm>
          <a:prstGeom prst="rect">
            <a:avLst/>
          </a:prstGeom>
          <a:noFill/>
          <a:ln>
            <a:noFill/>
          </a:ln>
        </p:spPr>
      </p:pic>
      <p:pic>
        <p:nvPicPr>
          <p:cNvPr id="139" name="Google Shape;139;p20"/>
          <p:cNvPicPr preferRelativeResize="0"/>
          <p:nvPr/>
        </p:nvPicPr>
        <p:blipFill>
          <a:blip r:embed="rId4">
            <a:alphaModFix/>
          </a:blip>
          <a:stretch>
            <a:fillRect/>
          </a:stretch>
        </p:blipFill>
        <p:spPr>
          <a:xfrm>
            <a:off x="1347775" y="3073763"/>
            <a:ext cx="9496425" cy="31527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1"/>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pt-PT"/>
              <a:t>Remover na Scapegoat tree</a:t>
            </a:r>
            <a:endParaRPr/>
          </a:p>
        </p:txBody>
      </p:sp>
      <p:sp>
        <p:nvSpPr>
          <p:cNvPr id="145" name="Google Shape;145;p21"/>
          <p:cNvSpPr txBox="1">
            <a:spLocks noGrp="1"/>
          </p:cNvSpPr>
          <p:nvPr>
            <p:ph type="body" idx="1"/>
          </p:nvPr>
        </p:nvSpPr>
        <p:spPr>
          <a:xfrm>
            <a:off x="838200" y="1568500"/>
            <a:ext cx="10515600" cy="4341300"/>
          </a:xfrm>
          <a:prstGeom prst="rect">
            <a:avLst/>
          </a:prstGeom>
          <a:noFill/>
          <a:ln>
            <a:noFill/>
          </a:ln>
        </p:spPr>
        <p:txBody>
          <a:bodyPr spcFirstLastPara="1" wrap="square" lIns="91425" tIns="45700" rIns="91425" bIns="45700" anchor="t" anchorCtr="0">
            <a:noAutofit/>
          </a:bodyPr>
          <a:lstStyle/>
          <a:p>
            <a:pPr marL="457200" marR="0" lvl="0" indent="0" algn="l" rtl="0">
              <a:lnSpc>
                <a:spcPct val="90000"/>
              </a:lnSpc>
              <a:spcBef>
                <a:spcPts val="1000"/>
              </a:spcBef>
              <a:spcAft>
                <a:spcPts val="0"/>
              </a:spcAft>
              <a:buNone/>
            </a:pPr>
            <a:r>
              <a:rPr lang="pt-PT"/>
              <a:t>Para remover o valor de x de uma árvore Scapegoat:</a:t>
            </a:r>
            <a:endParaRPr/>
          </a:p>
          <a:p>
            <a:pPr marL="914400" marR="0" lvl="1" indent="-342900" algn="l" rtl="0">
              <a:lnSpc>
                <a:spcPct val="90000"/>
              </a:lnSpc>
              <a:spcBef>
                <a:spcPts val="1000"/>
              </a:spcBef>
              <a:spcAft>
                <a:spcPts val="0"/>
              </a:spcAft>
              <a:buClr>
                <a:schemeClr val="dk1"/>
              </a:buClr>
              <a:buSzPts val="1800"/>
              <a:buFont typeface="Arial"/>
              <a:buChar char="•"/>
            </a:pPr>
            <a:r>
              <a:rPr lang="pt-PT"/>
              <a:t>1. Fazemos o algoritmo tradicional de remoção para binary search trees</a:t>
            </a:r>
            <a:endParaRPr/>
          </a:p>
          <a:p>
            <a:pPr marL="914400" marR="0" lvl="1" indent="-342900" algn="l" rtl="0">
              <a:lnSpc>
                <a:spcPct val="90000"/>
              </a:lnSpc>
              <a:spcBef>
                <a:spcPts val="0"/>
              </a:spcBef>
              <a:spcAft>
                <a:spcPts val="0"/>
              </a:spcAft>
              <a:buClr>
                <a:schemeClr val="dk1"/>
              </a:buClr>
              <a:buSzPts val="1800"/>
              <a:buFont typeface="Arial"/>
              <a:buChar char="•"/>
            </a:pPr>
            <a:r>
              <a:rPr lang="pt-PT"/>
              <a:t>2. decremento n</a:t>
            </a:r>
            <a:endParaRPr/>
          </a:p>
          <a:p>
            <a:pPr marL="914400" marR="0" lvl="1" indent="-342900" algn="l" rtl="0">
              <a:lnSpc>
                <a:spcPct val="90000"/>
              </a:lnSpc>
              <a:spcBef>
                <a:spcPts val="0"/>
              </a:spcBef>
              <a:spcAft>
                <a:spcPts val="0"/>
              </a:spcAft>
              <a:buClr>
                <a:schemeClr val="dk1"/>
              </a:buClr>
              <a:buSzPts val="1800"/>
              <a:buFont typeface="Arial"/>
              <a:buChar char="•"/>
            </a:pPr>
            <a:r>
              <a:rPr lang="pt-PT"/>
              <a:t>3. Se n &lt; q/2 então</a:t>
            </a:r>
            <a:endParaRPr/>
          </a:p>
          <a:p>
            <a:pPr marL="1371600" marR="0" lvl="2" indent="-342900" algn="l" rtl="0">
              <a:lnSpc>
                <a:spcPct val="90000"/>
              </a:lnSpc>
              <a:spcBef>
                <a:spcPts val="0"/>
              </a:spcBef>
              <a:spcAft>
                <a:spcPts val="0"/>
              </a:spcAft>
              <a:buClr>
                <a:schemeClr val="dk1"/>
              </a:buClr>
              <a:buSzPts val="1800"/>
              <a:buFont typeface="Arial"/>
              <a:buChar char="•"/>
            </a:pPr>
            <a:r>
              <a:rPr lang="pt-PT"/>
              <a:t>Reconstruímos toda a árvore e definimos q=n</a:t>
            </a:r>
            <a:endParaRPr/>
          </a:p>
        </p:txBody>
      </p:sp>
      <p:pic>
        <p:nvPicPr>
          <p:cNvPr id="146" name="Google Shape;146;p21"/>
          <p:cNvPicPr preferRelativeResize="0"/>
          <p:nvPr/>
        </p:nvPicPr>
        <p:blipFill rotWithShape="1">
          <a:blip r:embed="rId3">
            <a:alphaModFix/>
          </a:blip>
          <a:srcRect/>
          <a:stretch/>
        </p:blipFill>
        <p:spPr>
          <a:xfrm>
            <a:off x="5467029" y="6252954"/>
            <a:ext cx="1257941" cy="6050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2"/>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pt-PT"/>
              <a:t>Remover na Scapegoat tree</a:t>
            </a:r>
            <a:endParaRPr/>
          </a:p>
        </p:txBody>
      </p:sp>
      <p:pic>
        <p:nvPicPr>
          <p:cNvPr id="152" name="Google Shape;152;p22"/>
          <p:cNvPicPr preferRelativeResize="0"/>
          <p:nvPr/>
        </p:nvPicPr>
        <p:blipFill rotWithShape="1">
          <a:blip r:embed="rId3">
            <a:alphaModFix/>
          </a:blip>
          <a:srcRect/>
          <a:stretch/>
        </p:blipFill>
        <p:spPr>
          <a:xfrm>
            <a:off x="5467029" y="6252954"/>
            <a:ext cx="1257941" cy="605050"/>
          </a:xfrm>
          <a:prstGeom prst="rect">
            <a:avLst/>
          </a:prstGeom>
          <a:noFill/>
          <a:ln>
            <a:noFill/>
          </a:ln>
        </p:spPr>
      </p:pic>
      <p:pic>
        <p:nvPicPr>
          <p:cNvPr id="153" name="Google Shape;153;p22"/>
          <p:cNvPicPr preferRelativeResize="0"/>
          <p:nvPr/>
        </p:nvPicPr>
        <p:blipFill>
          <a:blip r:embed="rId4">
            <a:alphaModFix/>
          </a:blip>
          <a:stretch>
            <a:fillRect/>
          </a:stretch>
        </p:blipFill>
        <p:spPr>
          <a:xfrm>
            <a:off x="1268422" y="1806459"/>
            <a:ext cx="9655162" cy="416281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23"/>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pt-PT"/>
              <a:t>Inserir na Scapegoat tree</a:t>
            </a:r>
            <a:endParaRPr/>
          </a:p>
        </p:txBody>
      </p:sp>
      <p:sp>
        <p:nvSpPr>
          <p:cNvPr id="159" name="Google Shape;159;p23"/>
          <p:cNvSpPr txBox="1">
            <a:spLocks noGrp="1"/>
          </p:cNvSpPr>
          <p:nvPr>
            <p:ph type="body" idx="1"/>
          </p:nvPr>
        </p:nvSpPr>
        <p:spPr>
          <a:xfrm>
            <a:off x="838200" y="1568500"/>
            <a:ext cx="10515600" cy="43413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1000"/>
              </a:spcBef>
              <a:spcAft>
                <a:spcPts val="0"/>
              </a:spcAft>
              <a:buNone/>
            </a:pPr>
            <a:r>
              <a:rPr lang="pt-PT"/>
              <a:t>Para inserir o valor x numa</a:t>
            </a:r>
            <a:r>
              <a:rPr lang="pt-PT" sz="2800"/>
              <a:t> Scapegoat Tree:</a:t>
            </a:r>
            <a:endParaRPr/>
          </a:p>
          <a:p>
            <a:pPr marL="457200" marR="0" lvl="0" indent="-406400" algn="l" rtl="0">
              <a:lnSpc>
                <a:spcPct val="90000"/>
              </a:lnSpc>
              <a:spcBef>
                <a:spcPts val="1000"/>
              </a:spcBef>
              <a:spcAft>
                <a:spcPts val="0"/>
              </a:spcAft>
              <a:buSzPts val="2800"/>
              <a:buChar char="•"/>
            </a:pPr>
            <a:r>
              <a:rPr lang="pt-PT"/>
              <a:t>Criar um nó u e inserir da maneira normal</a:t>
            </a:r>
            <a:endParaRPr/>
          </a:p>
          <a:p>
            <a:pPr marL="457200" marR="0" lvl="0" indent="-406400" algn="l" rtl="0">
              <a:lnSpc>
                <a:spcPct val="90000"/>
              </a:lnSpc>
              <a:spcBef>
                <a:spcPts val="0"/>
              </a:spcBef>
              <a:spcAft>
                <a:spcPts val="0"/>
              </a:spcAft>
              <a:buSzPts val="2800"/>
              <a:buChar char="•"/>
            </a:pPr>
            <a:r>
              <a:rPr lang="pt-PT" sz="2800"/>
              <a:t>incrementar n </a:t>
            </a:r>
            <a:r>
              <a:rPr lang="pt-PT"/>
              <a:t>e</a:t>
            </a:r>
            <a:r>
              <a:rPr lang="pt-PT" sz="2800"/>
              <a:t> q</a:t>
            </a:r>
            <a:endParaRPr/>
          </a:p>
          <a:p>
            <a:pPr marL="457200" marR="0" lvl="0" indent="-406400" algn="l" rtl="0">
              <a:lnSpc>
                <a:spcPct val="90000"/>
              </a:lnSpc>
              <a:spcBef>
                <a:spcPts val="0"/>
              </a:spcBef>
              <a:spcAft>
                <a:spcPts val="0"/>
              </a:spcAft>
              <a:buSzPts val="2800"/>
              <a:buChar char="•"/>
            </a:pPr>
            <a:r>
              <a:rPr lang="pt-PT"/>
              <a:t>Se a profundidade de u for maior que </a:t>
            </a:r>
            <a:r>
              <a:rPr lang="pt-PT" sz="2800"/>
              <a:t>log(3/2) q, então</a:t>
            </a:r>
            <a:endParaRPr/>
          </a:p>
          <a:p>
            <a:pPr marL="914400" marR="0" lvl="1" indent="-406400" algn="l" rtl="0">
              <a:lnSpc>
                <a:spcPct val="90000"/>
              </a:lnSpc>
              <a:spcBef>
                <a:spcPts val="0"/>
              </a:spcBef>
              <a:spcAft>
                <a:spcPts val="0"/>
              </a:spcAft>
              <a:buSzPts val="2800"/>
              <a:buChar char="•"/>
            </a:pPr>
            <a:r>
              <a:rPr lang="pt-PT" sz="2800"/>
              <a:t>andamos até ao elemento do topo desde o u até alcançarmos um nó w com</a:t>
            </a:r>
            <a:endParaRPr/>
          </a:p>
          <a:p>
            <a:pPr marL="3657600" marR="0" lvl="0" indent="457200" algn="l" rtl="0">
              <a:lnSpc>
                <a:spcPct val="90000"/>
              </a:lnSpc>
              <a:spcBef>
                <a:spcPts val="1000"/>
              </a:spcBef>
              <a:spcAft>
                <a:spcPts val="0"/>
              </a:spcAft>
              <a:buNone/>
            </a:pPr>
            <a:r>
              <a:rPr lang="pt-PT" sz="2800"/>
              <a:t>size(w) &gt; (</a:t>
            </a:r>
            <a:r>
              <a:rPr lang="pt-PT"/>
              <a:t>⅔</a:t>
            </a:r>
            <a:r>
              <a:rPr lang="pt-PT" sz="2800"/>
              <a:t>)size(w.parent)</a:t>
            </a:r>
            <a:endParaRPr/>
          </a:p>
          <a:p>
            <a:pPr marL="914400" marR="0" lvl="1" indent="-406400" algn="l" rtl="0">
              <a:lnSpc>
                <a:spcPct val="90000"/>
              </a:lnSpc>
              <a:spcBef>
                <a:spcPts val="1000"/>
              </a:spcBef>
              <a:spcAft>
                <a:spcPts val="0"/>
              </a:spcAft>
              <a:buSzPts val="2800"/>
              <a:buChar char="•"/>
            </a:pPr>
            <a:r>
              <a:rPr lang="pt-PT" sz="2800"/>
              <a:t>Reconstruímos a subtree rooted no w.parent</a:t>
            </a:r>
            <a:endParaRPr/>
          </a:p>
        </p:txBody>
      </p:sp>
      <p:pic>
        <p:nvPicPr>
          <p:cNvPr id="160" name="Google Shape;160;p23"/>
          <p:cNvPicPr preferRelativeResize="0"/>
          <p:nvPr/>
        </p:nvPicPr>
        <p:blipFill rotWithShape="1">
          <a:blip r:embed="rId3">
            <a:alphaModFix/>
          </a:blip>
          <a:srcRect/>
          <a:stretch/>
        </p:blipFill>
        <p:spPr>
          <a:xfrm>
            <a:off x="5467029" y="6252954"/>
            <a:ext cx="1257941" cy="6050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24"/>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pt-PT"/>
              <a:t>Exemplo de Inserção (good case)</a:t>
            </a:r>
            <a:endParaRPr/>
          </a:p>
        </p:txBody>
      </p:sp>
      <p:pic>
        <p:nvPicPr>
          <p:cNvPr id="166" name="Google Shape;166;p24"/>
          <p:cNvPicPr preferRelativeResize="0"/>
          <p:nvPr/>
        </p:nvPicPr>
        <p:blipFill rotWithShape="1">
          <a:blip r:embed="rId3">
            <a:alphaModFix/>
          </a:blip>
          <a:srcRect/>
          <a:stretch/>
        </p:blipFill>
        <p:spPr>
          <a:xfrm>
            <a:off x="5320279" y="6226554"/>
            <a:ext cx="1257941" cy="605050"/>
          </a:xfrm>
          <a:prstGeom prst="rect">
            <a:avLst/>
          </a:prstGeom>
          <a:noFill/>
          <a:ln>
            <a:noFill/>
          </a:ln>
        </p:spPr>
      </p:pic>
      <p:pic>
        <p:nvPicPr>
          <p:cNvPr id="167" name="Google Shape;167;p24"/>
          <p:cNvPicPr preferRelativeResize="0"/>
          <p:nvPr/>
        </p:nvPicPr>
        <p:blipFill rotWithShape="1">
          <a:blip r:embed="rId4">
            <a:alphaModFix/>
          </a:blip>
          <a:srcRect l="2391" t="1907" b="17603"/>
          <a:stretch/>
        </p:blipFill>
        <p:spPr>
          <a:xfrm>
            <a:off x="3264400" y="1690825"/>
            <a:ext cx="6274101" cy="37802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5"/>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pt-PT"/>
              <a:t>Exemplo de Inserção (good case)</a:t>
            </a:r>
            <a:endParaRPr/>
          </a:p>
        </p:txBody>
      </p:sp>
      <p:pic>
        <p:nvPicPr>
          <p:cNvPr id="173" name="Google Shape;173;p25"/>
          <p:cNvPicPr preferRelativeResize="0"/>
          <p:nvPr/>
        </p:nvPicPr>
        <p:blipFill rotWithShape="1">
          <a:blip r:embed="rId3">
            <a:alphaModFix/>
          </a:blip>
          <a:srcRect/>
          <a:stretch/>
        </p:blipFill>
        <p:spPr>
          <a:xfrm>
            <a:off x="5320279" y="6226554"/>
            <a:ext cx="1257941" cy="605050"/>
          </a:xfrm>
          <a:prstGeom prst="rect">
            <a:avLst/>
          </a:prstGeom>
          <a:noFill/>
          <a:ln>
            <a:noFill/>
          </a:ln>
        </p:spPr>
      </p:pic>
      <p:pic>
        <p:nvPicPr>
          <p:cNvPr id="174" name="Google Shape;174;p25"/>
          <p:cNvPicPr preferRelativeResize="0"/>
          <p:nvPr/>
        </p:nvPicPr>
        <p:blipFill rotWithShape="1">
          <a:blip r:embed="rId4">
            <a:alphaModFix/>
          </a:blip>
          <a:srcRect l="2753" t="2114" r="10927"/>
          <a:stretch/>
        </p:blipFill>
        <p:spPr>
          <a:xfrm>
            <a:off x="3256775" y="1690825"/>
            <a:ext cx="5138975" cy="42165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26"/>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pt-PT"/>
              <a:t>Exemplo de Inserção (good case)</a:t>
            </a:r>
            <a:endParaRPr/>
          </a:p>
        </p:txBody>
      </p:sp>
      <p:pic>
        <p:nvPicPr>
          <p:cNvPr id="180" name="Google Shape;180;p26"/>
          <p:cNvPicPr preferRelativeResize="0"/>
          <p:nvPr/>
        </p:nvPicPr>
        <p:blipFill rotWithShape="1">
          <a:blip r:embed="rId3">
            <a:alphaModFix/>
          </a:blip>
          <a:srcRect/>
          <a:stretch/>
        </p:blipFill>
        <p:spPr>
          <a:xfrm>
            <a:off x="5320279" y="6226554"/>
            <a:ext cx="1257941" cy="605050"/>
          </a:xfrm>
          <a:prstGeom prst="rect">
            <a:avLst/>
          </a:prstGeom>
          <a:noFill/>
          <a:ln>
            <a:noFill/>
          </a:ln>
        </p:spPr>
      </p:pic>
      <p:pic>
        <p:nvPicPr>
          <p:cNvPr id="181" name="Google Shape;181;p26"/>
          <p:cNvPicPr preferRelativeResize="0"/>
          <p:nvPr/>
        </p:nvPicPr>
        <p:blipFill>
          <a:blip r:embed="rId4">
            <a:alphaModFix/>
          </a:blip>
          <a:stretch>
            <a:fillRect/>
          </a:stretch>
        </p:blipFill>
        <p:spPr>
          <a:xfrm>
            <a:off x="3140325" y="1690813"/>
            <a:ext cx="5274299" cy="4093051"/>
          </a:xfrm>
          <a:prstGeom prst="rect">
            <a:avLst/>
          </a:prstGeom>
          <a:noFill/>
          <a:ln>
            <a:noFill/>
          </a:ln>
        </p:spPr>
      </p:pic>
      <p:cxnSp>
        <p:nvCxnSpPr>
          <p:cNvPr id="182" name="Google Shape;182;p26"/>
          <p:cNvCxnSpPr/>
          <p:nvPr/>
        </p:nvCxnSpPr>
        <p:spPr>
          <a:xfrm>
            <a:off x="8037575" y="2205525"/>
            <a:ext cx="301800" cy="0"/>
          </a:xfrm>
          <a:prstGeom prst="straightConnector1">
            <a:avLst/>
          </a:prstGeom>
          <a:noFill/>
          <a:ln w="38100" cap="flat" cmpd="sng">
            <a:solidFill>
              <a:srgbClr val="FF0000"/>
            </a:solidFill>
            <a:prstDash val="solid"/>
            <a:round/>
            <a:headEnd type="none" w="med" len="med"/>
            <a:tailEnd type="none" w="med" len="med"/>
          </a:ln>
        </p:spPr>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27"/>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pt-PT"/>
              <a:t>Exemplo de Inserção (good case)</a:t>
            </a:r>
            <a:endParaRPr/>
          </a:p>
        </p:txBody>
      </p:sp>
      <p:pic>
        <p:nvPicPr>
          <p:cNvPr id="188" name="Google Shape;188;p27"/>
          <p:cNvPicPr preferRelativeResize="0"/>
          <p:nvPr/>
        </p:nvPicPr>
        <p:blipFill rotWithShape="1">
          <a:blip r:embed="rId3">
            <a:alphaModFix/>
          </a:blip>
          <a:srcRect/>
          <a:stretch/>
        </p:blipFill>
        <p:spPr>
          <a:xfrm>
            <a:off x="5320279" y="6226554"/>
            <a:ext cx="1257941" cy="605050"/>
          </a:xfrm>
          <a:prstGeom prst="rect">
            <a:avLst/>
          </a:prstGeom>
          <a:noFill/>
          <a:ln>
            <a:noFill/>
          </a:ln>
        </p:spPr>
      </p:pic>
      <p:pic>
        <p:nvPicPr>
          <p:cNvPr id="189" name="Google Shape;189;p27"/>
          <p:cNvPicPr preferRelativeResize="0"/>
          <p:nvPr/>
        </p:nvPicPr>
        <p:blipFill>
          <a:blip r:embed="rId4">
            <a:alphaModFix/>
          </a:blip>
          <a:stretch>
            <a:fillRect/>
          </a:stretch>
        </p:blipFill>
        <p:spPr>
          <a:xfrm>
            <a:off x="3140325" y="1690813"/>
            <a:ext cx="5274299" cy="4093051"/>
          </a:xfrm>
          <a:prstGeom prst="rect">
            <a:avLst/>
          </a:prstGeom>
          <a:noFill/>
          <a:ln>
            <a:noFill/>
          </a:ln>
        </p:spPr>
      </p:pic>
      <p:sp>
        <p:nvSpPr>
          <p:cNvPr id="190" name="Google Shape;190;p27"/>
          <p:cNvSpPr txBox="1"/>
          <p:nvPr/>
        </p:nvSpPr>
        <p:spPr>
          <a:xfrm>
            <a:off x="5870450" y="5178775"/>
            <a:ext cx="3497700" cy="6051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pt-PT" sz="2400"/>
              <a:t>d = 4 &lt; </a:t>
            </a:r>
            <a:r>
              <a:rPr lang="pt-PT" sz="2400">
                <a:solidFill>
                  <a:schemeClr val="dk1"/>
                </a:solidFill>
              </a:rPr>
              <a:t>log</a:t>
            </a:r>
            <a:r>
              <a:rPr lang="pt-PT" sz="2400" baseline="-25000">
                <a:solidFill>
                  <a:schemeClr val="dk1"/>
                </a:solidFill>
              </a:rPr>
              <a:t>3/2 </a:t>
            </a:r>
            <a:r>
              <a:rPr lang="pt-PT" sz="2400"/>
              <a:t>q ≈ 5.913</a:t>
            </a:r>
            <a:endParaRPr sz="24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28"/>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pt-PT"/>
              <a:t>Exemplo de Inserção (bad case)</a:t>
            </a:r>
            <a:endParaRPr/>
          </a:p>
        </p:txBody>
      </p:sp>
      <p:pic>
        <p:nvPicPr>
          <p:cNvPr id="196" name="Google Shape;196;p28"/>
          <p:cNvPicPr preferRelativeResize="0"/>
          <p:nvPr/>
        </p:nvPicPr>
        <p:blipFill rotWithShape="1">
          <a:blip r:embed="rId3">
            <a:alphaModFix/>
          </a:blip>
          <a:srcRect/>
          <a:stretch/>
        </p:blipFill>
        <p:spPr>
          <a:xfrm>
            <a:off x="5320279" y="6226554"/>
            <a:ext cx="1257941" cy="605050"/>
          </a:xfrm>
          <a:prstGeom prst="rect">
            <a:avLst/>
          </a:prstGeom>
          <a:noFill/>
          <a:ln>
            <a:noFill/>
          </a:ln>
        </p:spPr>
      </p:pic>
      <p:pic>
        <p:nvPicPr>
          <p:cNvPr id="197" name="Google Shape;197;p28"/>
          <p:cNvPicPr preferRelativeResize="0"/>
          <p:nvPr/>
        </p:nvPicPr>
        <p:blipFill rotWithShape="1">
          <a:blip r:embed="rId4">
            <a:alphaModFix/>
          </a:blip>
          <a:srcRect t="1931"/>
          <a:stretch/>
        </p:blipFill>
        <p:spPr>
          <a:xfrm>
            <a:off x="4191000" y="1766625"/>
            <a:ext cx="4848125" cy="38494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29"/>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pt-PT"/>
              <a:t>Exemplo de Inserção (bad case)</a:t>
            </a:r>
            <a:endParaRPr/>
          </a:p>
        </p:txBody>
      </p:sp>
      <p:pic>
        <p:nvPicPr>
          <p:cNvPr id="203" name="Google Shape;203;p29"/>
          <p:cNvPicPr preferRelativeResize="0"/>
          <p:nvPr/>
        </p:nvPicPr>
        <p:blipFill rotWithShape="1">
          <a:blip r:embed="rId3">
            <a:alphaModFix/>
          </a:blip>
          <a:srcRect/>
          <a:stretch/>
        </p:blipFill>
        <p:spPr>
          <a:xfrm>
            <a:off x="5320279" y="6226554"/>
            <a:ext cx="1257941" cy="605050"/>
          </a:xfrm>
          <a:prstGeom prst="rect">
            <a:avLst/>
          </a:prstGeom>
          <a:noFill/>
          <a:ln>
            <a:noFill/>
          </a:ln>
        </p:spPr>
      </p:pic>
      <p:pic>
        <p:nvPicPr>
          <p:cNvPr id="204" name="Google Shape;204;p29"/>
          <p:cNvPicPr preferRelativeResize="0"/>
          <p:nvPr/>
        </p:nvPicPr>
        <p:blipFill rotWithShape="1">
          <a:blip r:embed="rId4">
            <a:alphaModFix/>
          </a:blip>
          <a:srcRect t="2940"/>
          <a:stretch/>
        </p:blipFill>
        <p:spPr>
          <a:xfrm>
            <a:off x="4394750" y="1690825"/>
            <a:ext cx="3402500" cy="43796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pic>
        <p:nvPicPr>
          <p:cNvPr id="209" name="Google Shape;209;p30"/>
          <p:cNvPicPr preferRelativeResize="0"/>
          <p:nvPr/>
        </p:nvPicPr>
        <p:blipFill rotWithShape="1">
          <a:blip r:embed="rId3">
            <a:alphaModFix/>
          </a:blip>
          <a:srcRect t="2940"/>
          <a:stretch/>
        </p:blipFill>
        <p:spPr>
          <a:xfrm>
            <a:off x="4394750" y="1690825"/>
            <a:ext cx="3402500" cy="4379600"/>
          </a:xfrm>
          <a:prstGeom prst="rect">
            <a:avLst/>
          </a:prstGeom>
          <a:noFill/>
          <a:ln>
            <a:noFill/>
          </a:ln>
        </p:spPr>
      </p:pic>
      <p:sp>
        <p:nvSpPr>
          <p:cNvPr id="210" name="Google Shape;210;p30"/>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pt-PT"/>
              <a:t>Exemplo de Inserção (bad case)</a:t>
            </a:r>
            <a:endParaRPr/>
          </a:p>
        </p:txBody>
      </p:sp>
      <p:pic>
        <p:nvPicPr>
          <p:cNvPr id="211" name="Google Shape;211;p30"/>
          <p:cNvPicPr preferRelativeResize="0"/>
          <p:nvPr/>
        </p:nvPicPr>
        <p:blipFill rotWithShape="1">
          <a:blip r:embed="rId4">
            <a:alphaModFix/>
          </a:blip>
          <a:srcRect/>
          <a:stretch/>
        </p:blipFill>
        <p:spPr>
          <a:xfrm>
            <a:off x="5320279" y="6226554"/>
            <a:ext cx="1257941" cy="605050"/>
          </a:xfrm>
          <a:prstGeom prst="rect">
            <a:avLst/>
          </a:prstGeom>
          <a:noFill/>
          <a:ln>
            <a:noFill/>
          </a:ln>
        </p:spPr>
      </p:pic>
      <p:sp>
        <p:nvSpPr>
          <p:cNvPr id="212" name="Google Shape;212;p30"/>
          <p:cNvSpPr txBox="1"/>
          <p:nvPr/>
        </p:nvSpPr>
        <p:spPr>
          <a:xfrm>
            <a:off x="6578225" y="5465325"/>
            <a:ext cx="3497700" cy="6051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pt-PT" sz="2400"/>
              <a:t>d = 6 &gt; </a:t>
            </a:r>
            <a:r>
              <a:rPr lang="pt-PT" sz="2400">
                <a:solidFill>
                  <a:schemeClr val="dk1"/>
                </a:solidFill>
              </a:rPr>
              <a:t>log</a:t>
            </a:r>
            <a:r>
              <a:rPr lang="pt-PT" sz="2400" baseline="-25000">
                <a:solidFill>
                  <a:schemeClr val="dk1"/>
                </a:solidFill>
              </a:rPr>
              <a:t>3/2 </a:t>
            </a:r>
            <a:r>
              <a:rPr lang="pt-PT" sz="2400"/>
              <a:t>q ≈ 5.913</a:t>
            </a:r>
            <a:endParaRPr sz="24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pic>
        <p:nvPicPr>
          <p:cNvPr id="217" name="Google Shape;217;p31"/>
          <p:cNvPicPr preferRelativeResize="0"/>
          <p:nvPr/>
        </p:nvPicPr>
        <p:blipFill>
          <a:blip r:embed="rId3">
            <a:alphaModFix/>
          </a:blip>
          <a:stretch>
            <a:fillRect/>
          </a:stretch>
        </p:blipFill>
        <p:spPr>
          <a:xfrm>
            <a:off x="4299625" y="1492050"/>
            <a:ext cx="3592761" cy="4777126"/>
          </a:xfrm>
          <a:prstGeom prst="rect">
            <a:avLst/>
          </a:prstGeom>
          <a:noFill/>
          <a:ln>
            <a:noFill/>
          </a:ln>
        </p:spPr>
      </p:pic>
      <p:sp>
        <p:nvSpPr>
          <p:cNvPr id="218" name="Google Shape;218;p31"/>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pt-PT"/>
              <a:t>Exemplo de Inserção (bad case)</a:t>
            </a:r>
            <a:endParaRPr/>
          </a:p>
        </p:txBody>
      </p:sp>
      <p:pic>
        <p:nvPicPr>
          <p:cNvPr id="219" name="Google Shape;219;p31"/>
          <p:cNvPicPr preferRelativeResize="0"/>
          <p:nvPr/>
        </p:nvPicPr>
        <p:blipFill rotWithShape="1">
          <a:blip r:embed="rId4">
            <a:alphaModFix/>
          </a:blip>
          <a:srcRect t="7045"/>
          <a:stretch/>
        </p:blipFill>
        <p:spPr>
          <a:xfrm>
            <a:off x="5320275" y="6269175"/>
            <a:ext cx="1257950" cy="562425"/>
          </a:xfrm>
          <a:prstGeom prst="rect">
            <a:avLst/>
          </a:prstGeom>
          <a:noFill/>
          <a:ln>
            <a:noFill/>
          </a:ln>
        </p:spPr>
      </p:pic>
      <p:sp>
        <p:nvSpPr>
          <p:cNvPr id="220" name="Google Shape;220;p31"/>
          <p:cNvSpPr txBox="1"/>
          <p:nvPr/>
        </p:nvSpPr>
        <p:spPr>
          <a:xfrm>
            <a:off x="6578225" y="5465325"/>
            <a:ext cx="3497700" cy="6051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pt-PT" sz="2400"/>
              <a:t>d = 6 &gt; </a:t>
            </a:r>
            <a:r>
              <a:rPr lang="pt-PT" sz="2400">
                <a:solidFill>
                  <a:schemeClr val="dk1"/>
                </a:solidFill>
              </a:rPr>
              <a:t>log</a:t>
            </a:r>
            <a:r>
              <a:rPr lang="pt-PT" sz="2400" baseline="-25000">
                <a:solidFill>
                  <a:schemeClr val="dk1"/>
                </a:solidFill>
              </a:rPr>
              <a:t>3/2 </a:t>
            </a:r>
            <a:r>
              <a:rPr lang="pt-PT" sz="2400"/>
              <a:t>q ≈ 5.913</a:t>
            </a:r>
            <a:endParaRPr sz="2400"/>
          </a:p>
        </p:txBody>
      </p:sp>
      <p:pic>
        <p:nvPicPr>
          <p:cNvPr id="221" name="Google Shape;221;p31"/>
          <p:cNvPicPr preferRelativeResize="0"/>
          <p:nvPr/>
        </p:nvPicPr>
        <p:blipFill>
          <a:blip r:embed="rId5">
            <a:alphaModFix/>
          </a:blip>
          <a:stretch>
            <a:fillRect/>
          </a:stretch>
        </p:blipFill>
        <p:spPr>
          <a:xfrm>
            <a:off x="6420625" y="4902900"/>
            <a:ext cx="723817" cy="5624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pic>
        <p:nvPicPr>
          <p:cNvPr id="226" name="Google Shape;226;p32"/>
          <p:cNvPicPr preferRelativeResize="0"/>
          <p:nvPr/>
        </p:nvPicPr>
        <p:blipFill>
          <a:blip r:embed="rId3">
            <a:alphaModFix/>
          </a:blip>
          <a:stretch>
            <a:fillRect/>
          </a:stretch>
        </p:blipFill>
        <p:spPr>
          <a:xfrm>
            <a:off x="4204508" y="1449450"/>
            <a:ext cx="3592742" cy="4777100"/>
          </a:xfrm>
          <a:prstGeom prst="rect">
            <a:avLst/>
          </a:prstGeom>
          <a:noFill/>
          <a:ln>
            <a:noFill/>
          </a:ln>
        </p:spPr>
      </p:pic>
      <p:sp>
        <p:nvSpPr>
          <p:cNvPr id="227" name="Google Shape;227;p32"/>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pt-PT"/>
              <a:t>Exemplo de Inserção (bad case)</a:t>
            </a:r>
            <a:endParaRPr/>
          </a:p>
        </p:txBody>
      </p:sp>
      <p:pic>
        <p:nvPicPr>
          <p:cNvPr id="228" name="Google Shape;228;p32"/>
          <p:cNvPicPr preferRelativeResize="0"/>
          <p:nvPr/>
        </p:nvPicPr>
        <p:blipFill rotWithShape="1">
          <a:blip r:embed="rId4">
            <a:alphaModFix/>
          </a:blip>
          <a:srcRect/>
          <a:stretch/>
        </p:blipFill>
        <p:spPr>
          <a:xfrm>
            <a:off x="5320279" y="6226554"/>
            <a:ext cx="1257941" cy="605050"/>
          </a:xfrm>
          <a:prstGeom prst="rect">
            <a:avLst/>
          </a:prstGeom>
          <a:noFill/>
          <a:ln>
            <a:noFill/>
          </a:ln>
        </p:spPr>
      </p:pic>
      <p:sp>
        <p:nvSpPr>
          <p:cNvPr id="229" name="Google Shape;229;p32"/>
          <p:cNvSpPr txBox="1"/>
          <p:nvPr/>
        </p:nvSpPr>
        <p:spPr>
          <a:xfrm>
            <a:off x="6578225" y="5465325"/>
            <a:ext cx="3497700" cy="6051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pt-PT" sz="2400"/>
              <a:t>d = 6 &gt; </a:t>
            </a:r>
            <a:r>
              <a:rPr lang="pt-PT" sz="2400">
                <a:solidFill>
                  <a:schemeClr val="dk1"/>
                </a:solidFill>
              </a:rPr>
              <a:t>log</a:t>
            </a:r>
            <a:r>
              <a:rPr lang="pt-PT" sz="2400" baseline="-25000">
                <a:solidFill>
                  <a:schemeClr val="dk1"/>
                </a:solidFill>
              </a:rPr>
              <a:t>3/2 </a:t>
            </a:r>
            <a:r>
              <a:rPr lang="pt-PT" sz="2400"/>
              <a:t>q ≈ 5.913</a:t>
            </a:r>
            <a:endParaRPr sz="2400"/>
          </a:p>
        </p:txBody>
      </p:sp>
      <p:pic>
        <p:nvPicPr>
          <p:cNvPr id="230" name="Google Shape;230;p32"/>
          <p:cNvPicPr preferRelativeResize="0"/>
          <p:nvPr/>
        </p:nvPicPr>
        <p:blipFill>
          <a:blip r:embed="rId5">
            <a:alphaModFix/>
          </a:blip>
          <a:stretch>
            <a:fillRect/>
          </a:stretch>
        </p:blipFill>
        <p:spPr>
          <a:xfrm>
            <a:off x="6393175" y="4380700"/>
            <a:ext cx="595525" cy="4994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pic>
        <p:nvPicPr>
          <p:cNvPr id="235" name="Google Shape;235;p33"/>
          <p:cNvPicPr preferRelativeResize="0"/>
          <p:nvPr/>
        </p:nvPicPr>
        <p:blipFill>
          <a:blip r:embed="rId3">
            <a:alphaModFix/>
          </a:blip>
          <a:stretch>
            <a:fillRect/>
          </a:stretch>
        </p:blipFill>
        <p:spPr>
          <a:xfrm>
            <a:off x="3992200" y="1364175"/>
            <a:ext cx="3805045" cy="4862376"/>
          </a:xfrm>
          <a:prstGeom prst="rect">
            <a:avLst/>
          </a:prstGeom>
          <a:noFill/>
          <a:ln>
            <a:noFill/>
          </a:ln>
        </p:spPr>
      </p:pic>
      <p:sp>
        <p:nvSpPr>
          <p:cNvPr id="236" name="Google Shape;236;p33"/>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pt-PT"/>
              <a:t>Exemplo de Inserção (bad case)</a:t>
            </a:r>
            <a:endParaRPr/>
          </a:p>
        </p:txBody>
      </p:sp>
      <p:pic>
        <p:nvPicPr>
          <p:cNvPr id="237" name="Google Shape;237;p33"/>
          <p:cNvPicPr preferRelativeResize="0"/>
          <p:nvPr/>
        </p:nvPicPr>
        <p:blipFill rotWithShape="1">
          <a:blip r:embed="rId4">
            <a:alphaModFix/>
          </a:blip>
          <a:srcRect/>
          <a:stretch/>
        </p:blipFill>
        <p:spPr>
          <a:xfrm>
            <a:off x="5320279" y="6226554"/>
            <a:ext cx="1257941" cy="605050"/>
          </a:xfrm>
          <a:prstGeom prst="rect">
            <a:avLst/>
          </a:prstGeom>
          <a:noFill/>
          <a:ln>
            <a:noFill/>
          </a:ln>
        </p:spPr>
      </p:pic>
      <p:sp>
        <p:nvSpPr>
          <p:cNvPr id="238" name="Google Shape;238;p33"/>
          <p:cNvSpPr txBox="1"/>
          <p:nvPr/>
        </p:nvSpPr>
        <p:spPr>
          <a:xfrm>
            <a:off x="6578225" y="5465325"/>
            <a:ext cx="3497700" cy="6051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pt-PT" sz="2400"/>
              <a:t>d = 6 &gt; </a:t>
            </a:r>
            <a:r>
              <a:rPr lang="pt-PT" sz="2400">
                <a:solidFill>
                  <a:schemeClr val="dk1"/>
                </a:solidFill>
              </a:rPr>
              <a:t>log</a:t>
            </a:r>
            <a:r>
              <a:rPr lang="pt-PT" sz="2400" baseline="-25000">
                <a:solidFill>
                  <a:schemeClr val="dk1"/>
                </a:solidFill>
              </a:rPr>
              <a:t>3/2 </a:t>
            </a:r>
            <a:r>
              <a:rPr lang="pt-PT" sz="2400"/>
              <a:t>q ≈ 5.913</a:t>
            </a:r>
            <a:endParaRPr sz="2400"/>
          </a:p>
        </p:txBody>
      </p:sp>
      <p:pic>
        <p:nvPicPr>
          <p:cNvPr id="239" name="Google Shape;239;p33"/>
          <p:cNvPicPr preferRelativeResize="0"/>
          <p:nvPr/>
        </p:nvPicPr>
        <p:blipFill>
          <a:blip r:embed="rId5">
            <a:alphaModFix/>
          </a:blip>
          <a:stretch>
            <a:fillRect/>
          </a:stretch>
        </p:blipFill>
        <p:spPr>
          <a:xfrm>
            <a:off x="6845800" y="3914350"/>
            <a:ext cx="580900" cy="4857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pic>
        <p:nvPicPr>
          <p:cNvPr id="244" name="Google Shape;244;p34"/>
          <p:cNvPicPr preferRelativeResize="0"/>
          <p:nvPr/>
        </p:nvPicPr>
        <p:blipFill>
          <a:blip r:embed="rId3">
            <a:alphaModFix/>
          </a:blip>
          <a:stretch>
            <a:fillRect/>
          </a:stretch>
        </p:blipFill>
        <p:spPr>
          <a:xfrm>
            <a:off x="3992200" y="1364175"/>
            <a:ext cx="3805050" cy="4862392"/>
          </a:xfrm>
          <a:prstGeom prst="rect">
            <a:avLst/>
          </a:prstGeom>
          <a:noFill/>
          <a:ln>
            <a:noFill/>
          </a:ln>
        </p:spPr>
      </p:pic>
      <p:sp>
        <p:nvSpPr>
          <p:cNvPr id="245" name="Google Shape;245;p34"/>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pt-PT"/>
              <a:t>Exemplo de Inserção (bad case)</a:t>
            </a:r>
            <a:endParaRPr/>
          </a:p>
        </p:txBody>
      </p:sp>
      <p:pic>
        <p:nvPicPr>
          <p:cNvPr id="246" name="Google Shape;246;p34"/>
          <p:cNvPicPr preferRelativeResize="0"/>
          <p:nvPr/>
        </p:nvPicPr>
        <p:blipFill rotWithShape="1">
          <a:blip r:embed="rId4">
            <a:alphaModFix/>
          </a:blip>
          <a:srcRect/>
          <a:stretch/>
        </p:blipFill>
        <p:spPr>
          <a:xfrm>
            <a:off x="5320279" y="6226554"/>
            <a:ext cx="1257941" cy="605050"/>
          </a:xfrm>
          <a:prstGeom prst="rect">
            <a:avLst/>
          </a:prstGeom>
          <a:noFill/>
          <a:ln>
            <a:noFill/>
          </a:ln>
        </p:spPr>
      </p:pic>
      <p:sp>
        <p:nvSpPr>
          <p:cNvPr id="247" name="Google Shape;247;p34"/>
          <p:cNvSpPr txBox="1"/>
          <p:nvPr/>
        </p:nvSpPr>
        <p:spPr>
          <a:xfrm>
            <a:off x="6578225" y="5465325"/>
            <a:ext cx="3497700" cy="540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pt-PT" sz="2400"/>
              <a:t>d = 6 &gt; </a:t>
            </a:r>
            <a:r>
              <a:rPr lang="pt-PT" sz="2400">
                <a:solidFill>
                  <a:schemeClr val="dk1"/>
                </a:solidFill>
              </a:rPr>
              <a:t>log</a:t>
            </a:r>
            <a:r>
              <a:rPr lang="pt-PT" sz="2400" baseline="-25000">
                <a:solidFill>
                  <a:schemeClr val="dk1"/>
                </a:solidFill>
              </a:rPr>
              <a:t>3/2 </a:t>
            </a:r>
            <a:r>
              <a:rPr lang="pt-PT" sz="2400"/>
              <a:t>q ≈ 5.913</a:t>
            </a:r>
            <a:endParaRPr sz="2400"/>
          </a:p>
        </p:txBody>
      </p:sp>
      <p:pic>
        <p:nvPicPr>
          <p:cNvPr id="248" name="Google Shape;248;p34"/>
          <p:cNvPicPr preferRelativeResize="0"/>
          <p:nvPr/>
        </p:nvPicPr>
        <p:blipFill>
          <a:blip r:embed="rId5">
            <a:alphaModFix/>
          </a:blip>
          <a:stretch>
            <a:fillRect/>
          </a:stretch>
        </p:blipFill>
        <p:spPr>
          <a:xfrm>
            <a:off x="6674250" y="2775900"/>
            <a:ext cx="576325" cy="540625"/>
          </a:xfrm>
          <a:prstGeom prst="rect">
            <a:avLst/>
          </a:prstGeom>
          <a:noFill/>
          <a:ln>
            <a:noFill/>
          </a:ln>
        </p:spPr>
      </p:pic>
      <p:sp>
        <p:nvSpPr>
          <p:cNvPr id="249" name="Google Shape;249;p34"/>
          <p:cNvSpPr txBox="1"/>
          <p:nvPr/>
        </p:nvSpPr>
        <p:spPr>
          <a:xfrm>
            <a:off x="6885425" y="3525075"/>
            <a:ext cx="1796700" cy="540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t-PT" sz="2400"/>
              <a:t>Scapegoat!</a:t>
            </a:r>
            <a:endParaRPr sz="24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35"/>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pt-PT"/>
              <a:t>Exemplo de Inserção (bad case)</a:t>
            </a:r>
            <a:endParaRPr/>
          </a:p>
        </p:txBody>
      </p:sp>
      <p:pic>
        <p:nvPicPr>
          <p:cNvPr id="255" name="Google Shape;255;p35"/>
          <p:cNvPicPr preferRelativeResize="0"/>
          <p:nvPr/>
        </p:nvPicPr>
        <p:blipFill rotWithShape="1">
          <a:blip r:embed="rId3">
            <a:alphaModFix/>
          </a:blip>
          <a:srcRect/>
          <a:stretch/>
        </p:blipFill>
        <p:spPr>
          <a:xfrm>
            <a:off x="5320279" y="6226554"/>
            <a:ext cx="1257941" cy="605050"/>
          </a:xfrm>
          <a:prstGeom prst="rect">
            <a:avLst/>
          </a:prstGeom>
          <a:noFill/>
          <a:ln>
            <a:noFill/>
          </a:ln>
        </p:spPr>
      </p:pic>
      <p:pic>
        <p:nvPicPr>
          <p:cNvPr id="256" name="Google Shape;256;p35"/>
          <p:cNvPicPr preferRelativeResize="0"/>
          <p:nvPr/>
        </p:nvPicPr>
        <p:blipFill rotWithShape="1">
          <a:blip r:embed="rId4">
            <a:alphaModFix/>
          </a:blip>
          <a:srcRect t="1941"/>
          <a:stretch/>
        </p:blipFill>
        <p:spPr>
          <a:xfrm>
            <a:off x="3784588" y="1690825"/>
            <a:ext cx="4622824" cy="43916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36"/>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pt-PT"/>
              <a:t>Quando existe Scapegoat?</a:t>
            </a:r>
            <a:endParaRPr/>
          </a:p>
        </p:txBody>
      </p:sp>
      <p:sp>
        <p:nvSpPr>
          <p:cNvPr id="262" name="Google Shape;262;p36"/>
          <p:cNvSpPr txBox="1">
            <a:spLocks noGrp="1"/>
          </p:cNvSpPr>
          <p:nvPr>
            <p:ph type="body" idx="1"/>
          </p:nvPr>
        </p:nvSpPr>
        <p:spPr>
          <a:xfrm>
            <a:off x="838200" y="1690825"/>
            <a:ext cx="10515600" cy="43413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1000"/>
              </a:spcBef>
              <a:spcAft>
                <a:spcPts val="0"/>
              </a:spcAft>
              <a:buNone/>
            </a:pPr>
            <a:r>
              <a:rPr lang="pt-PT" sz="2600"/>
              <a:t>Nenhum problema é demasiado grande de modo a que não consigamos culpar ninguém</a:t>
            </a:r>
            <a:endParaRPr sz="2600"/>
          </a:p>
          <a:p>
            <a:pPr marL="0" marR="0" lvl="0" indent="0" algn="l" rtl="0">
              <a:lnSpc>
                <a:spcPct val="90000"/>
              </a:lnSpc>
              <a:spcBef>
                <a:spcPts val="1000"/>
              </a:spcBef>
              <a:spcAft>
                <a:spcPts val="0"/>
              </a:spcAft>
              <a:buNone/>
            </a:pPr>
            <a:r>
              <a:rPr lang="pt-PT" sz="2600"/>
              <a:t>Lema: Se d &gt;  </a:t>
            </a:r>
            <a:r>
              <a:rPr lang="pt-PT" sz="2400">
                <a:latin typeface="Arial"/>
                <a:ea typeface="Arial"/>
                <a:cs typeface="Arial"/>
                <a:sym typeface="Arial"/>
              </a:rPr>
              <a:t>log</a:t>
            </a:r>
            <a:r>
              <a:rPr lang="pt-PT" sz="2400" baseline="-25000">
                <a:latin typeface="Arial"/>
                <a:ea typeface="Arial"/>
                <a:cs typeface="Arial"/>
                <a:sym typeface="Arial"/>
              </a:rPr>
              <a:t>3/2 </a:t>
            </a:r>
            <a:r>
              <a:rPr lang="pt-PT" sz="2400">
                <a:latin typeface="Arial"/>
                <a:ea typeface="Arial"/>
                <a:cs typeface="Arial"/>
                <a:sym typeface="Arial"/>
              </a:rPr>
              <a:t>q</a:t>
            </a:r>
            <a:r>
              <a:rPr lang="pt-PT" sz="2600"/>
              <a:t> então existe scapegoat</a:t>
            </a:r>
            <a:endParaRPr sz="2600"/>
          </a:p>
          <a:p>
            <a:pPr marL="457200" marR="0" lvl="0" indent="-393700" algn="l" rtl="0">
              <a:lnSpc>
                <a:spcPct val="90000"/>
              </a:lnSpc>
              <a:spcBef>
                <a:spcPts val="1000"/>
              </a:spcBef>
              <a:spcAft>
                <a:spcPts val="0"/>
              </a:spcAft>
              <a:buSzPts val="2600"/>
              <a:buChar char="•"/>
            </a:pPr>
            <a:r>
              <a:rPr lang="pt-PT" sz="2600"/>
              <a:t>prova por contradição</a:t>
            </a:r>
            <a:endParaRPr sz="2600"/>
          </a:p>
          <a:p>
            <a:pPr marL="457200" marR="0" lvl="0" indent="-393700" algn="l" rtl="0">
              <a:lnSpc>
                <a:spcPct val="90000"/>
              </a:lnSpc>
              <a:spcBef>
                <a:spcPts val="0"/>
              </a:spcBef>
              <a:spcAft>
                <a:spcPts val="0"/>
              </a:spcAft>
              <a:buClr>
                <a:schemeClr val="dk1"/>
              </a:buClr>
              <a:buSzPts val="2600"/>
              <a:buFont typeface="Arial"/>
              <a:buChar char="•"/>
            </a:pPr>
            <a:r>
              <a:rPr lang="pt-PT" sz="2600"/>
              <a:t>Assumir (por contradição) que não encontramos uma scapegoat</a:t>
            </a:r>
            <a:endParaRPr sz="2600"/>
          </a:p>
          <a:p>
            <a:pPr marL="457200" marR="0" lvl="0" indent="-393700" algn="l" rtl="0">
              <a:lnSpc>
                <a:spcPct val="90000"/>
              </a:lnSpc>
              <a:spcBef>
                <a:spcPts val="0"/>
              </a:spcBef>
              <a:spcAft>
                <a:spcPts val="0"/>
              </a:spcAft>
              <a:buClr>
                <a:schemeClr val="dk1"/>
              </a:buClr>
              <a:buSzPts val="2600"/>
              <a:buFont typeface="Arial"/>
              <a:buChar char="•"/>
            </a:pPr>
            <a:r>
              <a:rPr lang="pt-PT" sz="2600"/>
              <a:t>Then size(w) ≤ (⅔) size(w.parent) para todos os nós w no caminho para u </a:t>
            </a:r>
            <a:endParaRPr sz="2600"/>
          </a:p>
          <a:p>
            <a:pPr marL="457200" marR="0" lvl="0" indent="-393700" algn="l" rtl="0">
              <a:lnSpc>
                <a:spcPct val="90000"/>
              </a:lnSpc>
              <a:spcBef>
                <a:spcPts val="0"/>
              </a:spcBef>
              <a:spcAft>
                <a:spcPts val="0"/>
              </a:spcAft>
              <a:buClr>
                <a:schemeClr val="dk1"/>
              </a:buClr>
              <a:buSzPts val="2600"/>
              <a:buFont typeface="Arial"/>
              <a:buChar char="•"/>
            </a:pPr>
            <a:r>
              <a:rPr lang="pt-PT" sz="2600"/>
              <a:t>O tamanho de um nó com profundidade i é no máximo n(⅔)^ i</a:t>
            </a:r>
            <a:endParaRPr sz="2600"/>
          </a:p>
          <a:p>
            <a:pPr marL="457200" marR="0" lvl="0" indent="-393700" algn="l" rtl="0">
              <a:lnSpc>
                <a:spcPct val="90000"/>
              </a:lnSpc>
              <a:spcBef>
                <a:spcPts val="0"/>
              </a:spcBef>
              <a:spcAft>
                <a:spcPts val="0"/>
              </a:spcAft>
              <a:buClr>
                <a:schemeClr val="dk1"/>
              </a:buClr>
              <a:buSzPts val="2600"/>
              <a:buFont typeface="Arial"/>
              <a:buChar char="•"/>
            </a:pPr>
            <a:r>
              <a:rPr lang="pt-PT" sz="2600"/>
              <a:t>Mas d &gt; </a:t>
            </a:r>
            <a:r>
              <a:rPr lang="pt-PT" sz="2400">
                <a:latin typeface="Arial"/>
                <a:ea typeface="Arial"/>
                <a:cs typeface="Arial"/>
                <a:sym typeface="Arial"/>
              </a:rPr>
              <a:t>log</a:t>
            </a:r>
            <a:r>
              <a:rPr lang="pt-PT" sz="2400" baseline="-25000">
                <a:latin typeface="Arial"/>
                <a:ea typeface="Arial"/>
                <a:cs typeface="Arial"/>
                <a:sym typeface="Arial"/>
              </a:rPr>
              <a:t>3/2 </a:t>
            </a:r>
            <a:r>
              <a:rPr lang="pt-PT" sz="2400">
                <a:latin typeface="Arial"/>
                <a:ea typeface="Arial"/>
                <a:cs typeface="Arial"/>
                <a:sym typeface="Arial"/>
              </a:rPr>
              <a:t>q </a:t>
            </a:r>
            <a:r>
              <a:rPr lang="pt-PT" sz="2600"/>
              <a:t> ≥ </a:t>
            </a:r>
            <a:r>
              <a:rPr lang="pt-PT" sz="2400">
                <a:latin typeface="Arial"/>
                <a:ea typeface="Arial"/>
                <a:cs typeface="Arial"/>
                <a:sym typeface="Arial"/>
              </a:rPr>
              <a:t>log</a:t>
            </a:r>
            <a:r>
              <a:rPr lang="pt-PT" sz="2400" baseline="-25000">
                <a:latin typeface="Arial"/>
                <a:ea typeface="Arial"/>
                <a:cs typeface="Arial"/>
                <a:sym typeface="Arial"/>
              </a:rPr>
              <a:t>3/2 </a:t>
            </a:r>
            <a:r>
              <a:rPr lang="pt-PT" sz="2600"/>
              <a:t> n, logo</a:t>
            </a:r>
            <a:endParaRPr sz="2600"/>
          </a:p>
          <a:p>
            <a:pPr marL="914400" marR="0" lvl="1" indent="-381000" algn="l" rtl="0">
              <a:lnSpc>
                <a:spcPct val="90000"/>
              </a:lnSpc>
              <a:spcBef>
                <a:spcPts val="0"/>
              </a:spcBef>
              <a:spcAft>
                <a:spcPts val="0"/>
              </a:spcAft>
              <a:buClr>
                <a:schemeClr val="dk1"/>
              </a:buClr>
              <a:buSzPts val="2400"/>
              <a:buFont typeface="Arial"/>
              <a:buChar char="•"/>
            </a:pPr>
            <a:r>
              <a:rPr lang="pt-PT"/>
              <a:t>size(u) ≤ n(⅔)^d &lt; n(⅔)^[</a:t>
            </a:r>
            <a:r>
              <a:rPr lang="pt-PT">
                <a:latin typeface="Arial"/>
                <a:ea typeface="Arial"/>
                <a:cs typeface="Arial"/>
                <a:sym typeface="Arial"/>
              </a:rPr>
              <a:t>log</a:t>
            </a:r>
            <a:r>
              <a:rPr lang="pt-PT" baseline="-25000">
                <a:latin typeface="Arial"/>
                <a:ea typeface="Arial"/>
                <a:cs typeface="Arial"/>
                <a:sym typeface="Arial"/>
              </a:rPr>
              <a:t>3/2 </a:t>
            </a:r>
            <a:r>
              <a:rPr lang="pt-PT"/>
              <a:t> n] = n/n = 1</a:t>
            </a:r>
            <a:endParaRPr/>
          </a:p>
          <a:p>
            <a:pPr marL="457200" marR="0" lvl="0" indent="-393700" algn="l" rtl="0">
              <a:lnSpc>
                <a:spcPct val="90000"/>
              </a:lnSpc>
              <a:spcBef>
                <a:spcPts val="0"/>
              </a:spcBef>
              <a:spcAft>
                <a:spcPts val="0"/>
              </a:spcAft>
              <a:buClr>
                <a:schemeClr val="dk1"/>
              </a:buClr>
              <a:buSzPts val="2600"/>
              <a:buFont typeface="Arial"/>
              <a:buChar char="•"/>
            </a:pPr>
            <a:r>
              <a:rPr lang="pt-PT" sz="2600"/>
              <a:t>Contradição! (Já que size(u)=1) Logo existe scapegoat</a:t>
            </a:r>
            <a:endParaRPr sz="2600"/>
          </a:p>
        </p:txBody>
      </p:sp>
      <p:pic>
        <p:nvPicPr>
          <p:cNvPr id="263" name="Google Shape;263;p36"/>
          <p:cNvPicPr preferRelativeResize="0"/>
          <p:nvPr/>
        </p:nvPicPr>
        <p:blipFill rotWithShape="1">
          <a:blip r:embed="rId3">
            <a:alphaModFix/>
          </a:blip>
          <a:srcRect/>
          <a:stretch/>
        </p:blipFill>
        <p:spPr>
          <a:xfrm>
            <a:off x="5467029" y="6252954"/>
            <a:ext cx="1257941" cy="6050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3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pt-PT"/>
              <a:t>Tamanho</a:t>
            </a:r>
            <a:endParaRPr/>
          </a:p>
        </p:txBody>
      </p:sp>
      <p:sp>
        <p:nvSpPr>
          <p:cNvPr id="269" name="Google Shape;269;p3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p>
            <a:pPr marL="228600" lvl="0" indent="-50800" algn="l" rtl="0">
              <a:lnSpc>
                <a:spcPct val="90000"/>
              </a:lnSpc>
              <a:spcBef>
                <a:spcPts val="0"/>
              </a:spcBef>
              <a:spcAft>
                <a:spcPts val="0"/>
              </a:spcAft>
              <a:buClr>
                <a:schemeClr val="dk1"/>
              </a:buClr>
              <a:buSzPts val="2800"/>
              <a:buNone/>
            </a:pPr>
            <a:r>
              <a:rPr lang="pt-PT" sz="2600"/>
              <a:t>Só é preciso saber o valor de size(w) se tivermos à procura do scapegoat.</a:t>
            </a:r>
            <a:endParaRPr sz="2600"/>
          </a:p>
          <a:p>
            <a:pPr marL="228600" lvl="0" indent="-50800" algn="l" rtl="0">
              <a:lnSpc>
                <a:spcPct val="90000"/>
              </a:lnSpc>
              <a:spcBef>
                <a:spcPts val="0"/>
              </a:spcBef>
              <a:spcAft>
                <a:spcPts val="0"/>
              </a:spcAft>
              <a:buClr>
                <a:schemeClr val="dk1"/>
              </a:buClr>
              <a:buSzPts val="2800"/>
              <a:buNone/>
            </a:pPr>
            <a:endParaRPr sz="2600"/>
          </a:p>
          <a:p>
            <a:pPr marL="228600" lvl="0" indent="-50800" algn="l" rtl="0">
              <a:lnSpc>
                <a:spcPct val="90000"/>
              </a:lnSpc>
              <a:spcBef>
                <a:spcPts val="0"/>
              </a:spcBef>
              <a:spcAft>
                <a:spcPts val="0"/>
              </a:spcAft>
              <a:buClr>
                <a:schemeClr val="dk1"/>
              </a:buClr>
              <a:buSzPts val="2800"/>
              <a:buNone/>
            </a:pPr>
            <a:r>
              <a:rPr lang="pt-PT" sz="2600"/>
              <a:t>Sabendo o valor de size(w), pode-se calcular size(w.parent) atravessando a raiz da subárvore até sibling(w).</a:t>
            </a:r>
            <a:endParaRPr sz="2600"/>
          </a:p>
          <a:p>
            <a:pPr marL="228600" lvl="0" indent="-50800" algn="l" rtl="0">
              <a:lnSpc>
                <a:spcPct val="90000"/>
              </a:lnSpc>
              <a:spcBef>
                <a:spcPts val="0"/>
              </a:spcBef>
              <a:spcAft>
                <a:spcPts val="0"/>
              </a:spcAft>
              <a:buClr>
                <a:schemeClr val="dk1"/>
              </a:buClr>
              <a:buSzPts val="2800"/>
              <a:buNone/>
            </a:pPr>
            <a:endParaRPr sz="2600"/>
          </a:p>
          <a:p>
            <a:pPr marL="228600" lvl="0" indent="-50800" algn="l" rtl="0">
              <a:lnSpc>
                <a:spcPct val="90000"/>
              </a:lnSpc>
              <a:spcBef>
                <a:spcPts val="0"/>
              </a:spcBef>
              <a:spcAft>
                <a:spcPts val="0"/>
              </a:spcAft>
              <a:buClr>
                <a:schemeClr val="dk1"/>
              </a:buClr>
              <a:buSzPts val="2800"/>
              <a:buNone/>
            </a:pPr>
            <a:r>
              <a:rPr lang="pt-PT" sz="2600"/>
              <a:t>Isto dá o tamanho de todas as subárvores até ao scapegoat v num tempo de O(size(v)).</a:t>
            </a:r>
            <a:endParaRPr sz="2600"/>
          </a:p>
          <a:p>
            <a:pPr marL="228600" lvl="0" indent="-50800" algn="l" rtl="0">
              <a:lnSpc>
                <a:spcPct val="90000"/>
              </a:lnSpc>
              <a:spcBef>
                <a:spcPts val="0"/>
              </a:spcBef>
              <a:spcAft>
                <a:spcPts val="0"/>
              </a:spcAft>
              <a:buClr>
                <a:schemeClr val="dk1"/>
              </a:buClr>
              <a:buSzPts val="2800"/>
              <a:buNone/>
            </a:pPr>
            <a:endParaRPr sz="2600"/>
          </a:p>
          <a:p>
            <a:pPr marL="228600" lvl="0" indent="-50800" algn="l" rtl="0">
              <a:lnSpc>
                <a:spcPct val="90000"/>
              </a:lnSpc>
              <a:spcBef>
                <a:spcPts val="0"/>
              </a:spcBef>
              <a:spcAft>
                <a:spcPts val="0"/>
              </a:spcAft>
              <a:buClr>
                <a:schemeClr val="dk1"/>
              </a:buClr>
              <a:buSzPts val="2800"/>
              <a:buNone/>
            </a:pPr>
            <a:r>
              <a:rPr lang="pt-PT" sz="2600"/>
              <a:t>De qualquer das maneiras é utilizado O(size(v)) na reconstrução de v, não adicionando nada ao custo de reconstrução.</a:t>
            </a:r>
            <a:endParaRPr sz="2600"/>
          </a:p>
        </p:txBody>
      </p:sp>
      <p:pic>
        <p:nvPicPr>
          <p:cNvPr id="270" name="Google Shape;270;p37"/>
          <p:cNvPicPr preferRelativeResize="0"/>
          <p:nvPr/>
        </p:nvPicPr>
        <p:blipFill rotWithShape="1">
          <a:blip r:embed="rId3">
            <a:alphaModFix/>
          </a:blip>
          <a:srcRect/>
          <a:stretch/>
        </p:blipFill>
        <p:spPr>
          <a:xfrm>
            <a:off x="5320279" y="6226554"/>
            <a:ext cx="1257941" cy="6050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3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pt-PT"/>
              <a:t>Controlar o Tamanho</a:t>
            </a:r>
            <a:endParaRPr/>
          </a:p>
        </p:txBody>
      </p:sp>
      <p:sp>
        <p:nvSpPr>
          <p:cNvPr id="276" name="Google Shape;276;p3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p>
            <a:pPr marL="228600" lvl="0" indent="-50800" algn="l" rtl="0">
              <a:lnSpc>
                <a:spcPct val="90000"/>
              </a:lnSpc>
              <a:spcBef>
                <a:spcPts val="0"/>
              </a:spcBef>
              <a:spcAft>
                <a:spcPts val="0"/>
              </a:spcAft>
              <a:buClr>
                <a:schemeClr val="dk1"/>
              </a:buClr>
              <a:buSzPts val="2800"/>
              <a:buNone/>
            </a:pPr>
            <a:r>
              <a:rPr lang="pt-PT" sz="2400"/>
              <a:t>Quando se procura por um scapegoat (durante inserção) pode verificar-se a condição 2*size(w) &lt;= 3*size(parent).</a:t>
            </a:r>
            <a:endParaRPr sz="2400"/>
          </a:p>
          <a:p>
            <a:pPr marL="228600" lvl="0" indent="-50800" algn="l" rtl="0">
              <a:lnSpc>
                <a:spcPct val="90000"/>
              </a:lnSpc>
              <a:spcBef>
                <a:spcPts val="0"/>
              </a:spcBef>
              <a:spcAft>
                <a:spcPts val="0"/>
              </a:spcAft>
              <a:buClr>
                <a:schemeClr val="dk1"/>
              </a:buClr>
              <a:buSzPts val="2800"/>
              <a:buNone/>
            </a:pPr>
            <a:r>
              <a:rPr lang="pt-PT" sz="2400"/>
              <a:t>Como é que se sabe o size(w) e size(parent)?</a:t>
            </a:r>
            <a:endParaRPr sz="2400"/>
          </a:p>
          <a:p>
            <a:pPr marL="457200" lvl="0" indent="-381000" algn="l" rtl="0">
              <a:lnSpc>
                <a:spcPct val="90000"/>
              </a:lnSpc>
              <a:spcBef>
                <a:spcPts val="0"/>
              </a:spcBef>
              <a:spcAft>
                <a:spcPts val="0"/>
              </a:spcAft>
              <a:buSzPts val="2400"/>
              <a:buChar char="●"/>
            </a:pPr>
            <a:r>
              <a:rPr lang="pt-PT" sz="2400"/>
              <a:t>  Solução 1: Cada nó guarda um contador extra para o size</a:t>
            </a:r>
            <a:endParaRPr sz="2400"/>
          </a:p>
          <a:p>
            <a:pPr marL="914400" lvl="1" indent="-381000" algn="l" rtl="0">
              <a:lnSpc>
                <a:spcPct val="90000"/>
              </a:lnSpc>
              <a:spcBef>
                <a:spcPts val="0"/>
              </a:spcBef>
              <a:spcAft>
                <a:spcPts val="0"/>
              </a:spcAft>
              <a:buSzPts val="2400"/>
              <a:buChar char="○"/>
            </a:pPr>
            <a:r>
              <a:rPr lang="pt-PT" sz="2400"/>
              <a:t>Durante inserção, cada nó no caminho do nó u, o contador incrementa</a:t>
            </a:r>
            <a:endParaRPr/>
          </a:p>
          <a:p>
            <a:pPr marL="914400" lvl="1" indent="-381000" algn="l" rtl="0">
              <a:lnSpc>
                <a:spcPct val="90000"/>
              </a:lnSpc>
              <a:spcBef>
                <a:spcPts val="0"/>
              </a:spcBef>
              <a:spcAft>
                <a:spcPts val="0"/>
              </a:spcAft>
              <a:buSzPts val="2400"/>
              <a:buChar char="○"/>
            </a:pPr>
            <a:r>
              <a:rPr lang="pt-PT" sz="2400"/>
              <a:t>Durante eliminação, cada nó no caminho do nó u, o contador decrementa</a:t>
            </a:r>
            <a:endParaRPr/>
          </a:p>
          <a:p>
            <a:pPr marL="914400" lvl="1" indent="-381000" algn="l" rtl="0">
              <a:lnSpc>
                <a:spcPct val="90000"/>
              </a:lnSpc>
              <a:spcBef>
                <a:spcPts val="0"/>
              </a:spcBef>
              <a:spcAft>
                <a:spcPts val="0"/>
              </a:spcAft>
              <a:buSzPts val="2400"/>
              <a:buChar char="○"/>
            </a:pPr>
            <a:r>
              <a:rPr lang="pt-PT" sz="2400"/>
              <a:t>O tamanho é contado de baixo para cima durante reconstrução</a:t>
            </a:r>
            <a:endParaRPr sz="2400"/>
          </a:p>
          <a:p>
            <a:pPr marL="457200" lvl="0" indent="-342900" algn="l" rtl="0">
              <a:spcBef>
                <a:spcPts val="0"/>
              </a:spcBef>
              <a:spcAft>
                <a:spcPts val="0"/>
              </a:spcAft>
              <a:buSzPts val="1800"/>
              <a:buChar char="●"/>
            </a:pPr>
            <a:r>
              <a:rPr lang="pt-PT" sz="2400"/>
              <a:t>Solução 2: Cada nó não tem um contador para o tamanho.</a:t>
            </a:r>
            <a:r>
              <a:rPr lang="pt-PT"/>
              <a:t>     </a:t>
            </a:r>
            <a:endParaRPr/>
          </a:p>
        </p:txBody>
      </p:sp>
      <p:pic>
        <p:nvPicPr>
          <p:cNvPr id="277" name="Google Shape;277;p38"/>
          <p:cNvPicPr preferRelativeResize="0"/>
          <p:nvPr/>
        </p:nvPicPr>
        <p:blipFill rotWithShape="1">
          <a:blip r:embed="rId3">
            <a:alphaModFix/>
          </a:blip>
          <a:srcRect/>
          <a:stretch/>
        </p:blipFill>
        <p:spPr>
          <a:xfrm>
            <a:off x="5320279" y="6226554"/>
            <a:ext cx="1257941" cy="6050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39"/>
          <p:cNvSpPr txBox="1">
            <a:spLocks noGrp="1"/>
          </p:cNvSpPr>
          <p:nvPr>
            <p:ph type="body" idx="1"/>
          </p:nvPr>
        </p:nvSpPr>
        <p:spPr>
          <a:xfrm>
            <a:off x="838200" y="1825625"/>
            <a:ext cx="5853000" cy="4351200"/>
          </a:xfrm>
          <a:prstGeom prst="rect">
            <a:avLst/>
          </a:prstGeom>
          <a:noFill/>
          <a:ln>
            <a:noFill/>
          </a:ln>
        </p:spPr>
        <p:txBody>
          <a:bodyPr spcFirstLastPara="1" wrap="square" lIns="91425" tIns="45700" rIns="91425" bIns="45700" anchor="t" anchorCtr="0">
            <a:noAutofit/>
          </a:bodyPr>
          <a:lstStyle/>
          <a:p>
            <a:pPr marL="457200" lvl="0" indent="-381000" algn="l" rtl="0">
              <a:lnSpc>
                <a:spcPct val="90000"/>
              </a:lnSpc>
              <a:spcBef>
                <a:spcPts val="0"/>
              </a:spcBef>
              <a:spcAft>
                <a:spcPts val="0"/>
              </a:spcAft>
              <a:buSzPts val="2400"/>
              <a:buChar char="•"/>
            </a:pPr>
            <a:r>
              <a:rPr lang="pt-PT" sz="2400"/>
              <a:t>Só necessitamos de saber o size(w) quando estamos À procura de scapegoat</a:t>
            </a:r>
            <a:endParaRPr sz="2400"/>
          </a:p>
          <a:p>
            <a:pPr marL="457200" lvl="0" indent="-381000" algn="l" rtl="0">
              <a:lnSpc>
                <a:spcPct val="90000"/>
              </a:lnSpc>
              <a:spcBef>
                <a:spcPts val="0"/>
              </a:spcBef>
              <a:spcAft>
                <a:spcPts val="0"/>
              </a:spcAft>
              <a:buSzPts val="2400"/>
              <a:buChar char="•"/>
            </a:pPr>
            <a:r>
              <a:rPr lang="pt-PT" sz="2400"/>
              <a:t>Se soubermos o size(w) então podemos calcular o size(w.parent) atravessando a subtree rooted no sibling(w)</a:t>
            </a:r>
            <a:endParaRPr sz="2400"/>
          </a:p>
          <a:p>
            <a:pPr marL="457200" lvl="0" indent="-381000" algn="l" rtl="0">
              <a:lnSpc>
                <a:spcPct val="90000"/>
              </a:lnSpc>
              <a:spcBef>
                <a:spcPts val="0"/>
              </a:spcBef>
              <a:spcAft>
                <a:spcPts val="0"/>
              </a:spcAft>
              <a:buSzPts val="2400"/>
              <a:buChar char="•"/>
            </a:pPr>
            <a:r>
              <a:rPr lang="pt-PT" sz="2400"/>
              <a:t>Isto dá todos os tamanhos das subtrees até scapegoat v em tempo O(size(v))</a:t>
            </a:r>
            <a:endParaRPr sz="2400"/>
          </a:p>
          <a:p>
            <a:pPr marL="457200" lvl="0" indent="-381000" algn="l" rtl="0">
              <a:lnSpc>
                <a:spcPct val="90000"/>
              </a:lnSpc>
              <a:spcBef>
                <a:spcPts val="0"/>
              </a:spcBef>
              <a:spcAft>
                <a:spcPts val="0"/>
              </a:spcAft>
              <a:buSzPts val="2400"/>
              <a:buChar char="•"/>
            </a:pPr>
            <a:r>
              <a:rPr lang="pt-PT" sz="2400"/>
              <a:t>Mas fazemos O(size(v)) funcionar quando reconstruímos v, logo isto não adiciona nada ao custo de reconstrução</a:t>
            </a:r>
            <a:endParaRPr sz="2400"/>
          </a:p>
        </p:txBody>
      </p:sp>
      <p:sp>
        <p:nvSpPr>
          <p:cNvPr id="283" name="Google Shape;283;p39"/>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pt-PT"/>
              <a:t>Não controlar o Tamanho</a:t>
            </a:r>
            <a:endParaRPr/>
          </a:p>
        </p:txBody>
      </p:sp>
      <p:pic>
        <p:nvPicPr>
          <p:cNvPr id="284" name="Google Shape;284;p39"/>
          <p:cNvPicPr preferRelativeResize="0"/>
          <p:nvPr/>
        </p:nvPicPr>
        <p:blipFill rotWithShape="1">
          <a:blip r:embed="rId3">
            <a:alphaModFix/>
          </a:blip>
          <a:srcRect/>
          <a:stretch/>
        </p:blipFill>
        <p:spPr>
          <a:xfrm>
            <a:off x="5320279" y="6226554"/>
            <a:ext cx="1257941" cy="605050"/>
          </a:xfrm>
          <a:prstGeom prst="rect">
            <a:avLst/>
          </a:prstGeom>
          <a:noFill/>
          <a:ln>
            <a:noFill/>
          </a:ln>
        </p:spPr>
      </p:pic>
      <p:pic>
        <p:nvPicPr>
          <p:cNvPr id="285" name="Google Shape;285;p39"/>
          <p:cNvPicPr preferRelativeResize="0"/>
          <p:nvPr/>
        </p:nvPicPr>
        <p:blipFill>
          <a:blip r:embed="rId4">
            <a:alphaModFix/>
          </a:blip>
          <a:stretch>
            <a:fillRect/>
          </a:stretch>
        </p:blipFill>
        <p:spPr>
          <a:xfrm>
            <a:off x="7197824" y="1515600"/>
            <a:ext cx="3948500" cy="48566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0"/>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Autofit/>
          </a:bodyPr>
          <a:lstStyle/>
          <a:p>
            <a:pPr marL="457200" lvl="0" indent="-419100" algn="l" rtl="0">
              <a:lnSpc>
                <a:spcPct val="90000"/>
              </a:lnSpc>
              <a:spcBef>
                <a:spcPts val="0"/>
              </a:spcBef>
              <a:spcAft>
                <a:spcPts val="0"/>
              </a:spcAft>
              <a:buSzPts val="3000"/>
              <a:buChar char="•"/>
            </a:pPr>
            <a:r>
              <a:rPr lang="pt-PT" sz="3000"/>
              <a:t>Quando eliminamos, se n &lt; q/2, então reconstruímos toda a árvore</a:t>
            </a:r>
            <a:endParaRPr sz="3000"/>
          </a:p>
          <a:p>
            <a:pPr marL="457200" lvl="0" indent="-419100" algn="l" rtl="0">
              <a:lnSpc>
                <a:spcPct val="90000"/>
              </a:lnSpc>
              <a:spcBef>
                <a:spcPts val="0"/>
              </a:spcBef>
              <a:spcAft>
                <a:spcPts val="0"/>
              </a:spcAft>
              <a:buSzPts val="3000"/>
              <a:buChar char="•"/>
            </a:pPr>
            <a:r>
              <a:rPr lang="pt-PT" sz="3000"/>
              <a:t>Isto leva O(n) tempo</a:t>
            </a:r>
            <a:endParaRPr sz="3000"/>
          </a:p>
          <a:p>
            <a:pPr marL="457200" lvl="0" indent="-419100" algn="l" rtl="0">
              <a:lnSpc>
                <a:spcPct val="90000"/>
              </a:lnSpc>
              <a:spcBef>
                <a:spcPts val="0"/>
              </a:spcBef>
              <a:spcAft>
                <a:spcPts val="0"/>
              </a:spcAft>
              <a:buSzPts val="3000"/>
              <a:buChar char="•"/>
            </a:pPr>
            <a:r>
              <a:rPr lang="pt-PT" sz="3000"/>
              <a:t>Se n &lt; q/2 então fizemos pelo menos q − n &gt; n/2 eliminações</a:t>
            </a:r>
            <a:endParaRPr sz="3000"/>
          </a:p>
          <a:p>
            <a:pPr marL="457200" lvl="0" indent="-381000" algn="l" rtl="0">
              <a:lnSpc>
                <a:spcPct val="90000"/>
              </a:lnSpc>
              <a:spcBef>
                <a:spcPts val="0"/>
              </a:spcBef>
              <a:spcAft>
                <a:spcPts val="0"/>
              </a:spcAft>
              <a:buSzPts val="2400"/>
              <a:buChar char="•"/>
            </a:pPr>
            <a:r>
              <a:rPr lang="pt-PT" sz="3000"/>
              <a:t>O custo médio amortizado de reconstrução é O(1) por eliminação</a:t>
            </a:r>
            <a:r>
              <a:rPr lang="pt-PT" sz="2400"/>
              <a:t> </a:t>
            </a:r>
            <a:endParaRPr sz="2400"/>
          </a:p>
        </p:txBody>
      </p:sp>
      <p:sp>
        <p:nvSpPr>
          <p:cNvPr id="291" name="Google Shape;291;p40"/>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pt-PT"/>
              <a:t>Análise de eliminação</a:t>
            </a:r>
            <a:endParaRPr/>
          </a:p>
        </p:txBody>
      </p:sp>
      <p:pic>
        <p:nvPicPr>
          <p:cNvPr id="292" name="Google Shape;292;p40"/>
          <p:cNvPicPr preferRelativeResize="0"/>
          <p:nvPr/>
        </p:nvPicPr>
        <p:blipFill rotWithShape="1">
          <a:blip r:embed="rId3">
            <a:alphaModFix/>
          </a:blip>
          <a:srcRect/>
          <a:stretch/>
        </p:blipFill>
        <p:spPr>
          <a:xfrm>
            <a:off x="5320279" y="6226554"/>
            <a:ext cx="1257941" cy="6050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41"/>
          <p:cNvSpPr txBox="1">
            <a:spLocks noGrp="1"/>
          </p:cNvSpPr>
          <p:nvPr>
            <p:ph type="body" idx="1"/>
          </p:nvPr>
        </p:nvSpPr>
        <p:spPr>
          <a:xfrm>
            <a:off x="838200" y="1825625"/>
            <a:ext cx="10692000" cy="4351200"/>
          </a:xfrm>
          <a:prstGeom prst="rect">
            <a:avLst/>
          </a:prstGeom>
          <a:noFill/>
          <a:ln>
            <a:noFill/>
          </a:ln>
        </p:spPr>
        <p:txBody>
          <a:bodyPr spcFirstLastPara="1" wrap="square" lIns="91425" tIns="45700" rIns="91425" bIns="45700" anchor="t" anchorCtr="0">
            <a:noAutofit/>
          </a:bodyPr>
          <a:lstStyle/>
          <a:p>
            <a:pPr marL="457200" lvl="0" indent="-381000" algn="l" rtl="0">
              <a:lnSpc>
                <a:spcPct val="90000"/>
              </a:lnSpc>
              <a:spcBef>
                <a:spcPts val="0"/>
              </a:spcBef>
              <a:spcAft>
                <a:spcPts val="0"/>
              </a:spcAft>
              <a:buSzPts val="2400"/>
              <a:buChar char="•"/>
            </a:pPr>
            <a:r>
              <a:rPr lang="pt-PT" sz="2400"/>
              <a:t>Usamos o método de credito da análise amortizada </a:t>
            </a:r>
            <a:endParaRPr sz="2400"/>
          </a:p>
          <a:p>
            <a:pPr marL="457200" lvl="0" indent="-381000" algn="l" rtl="0">
              <a:lnSpc>
                <a:spcPct val="90000"/>
              </a:lnSpc>
              <a:spcBef>
                <a:spcPts val="0"/>
              </a:spcBef>
              <a:spcAft>
                <a:spcPts val="0"/>
              </a:spcAft>
              <a:buSzPts val="2400"/>
              <a:buChar char="•"/>
            </a:pPr>
            <a:r>
              <a:rPr lang="pt-PT" sz="2400"/>
              <a:t>Quando inserimos ou removemos um nó u, adicionamos uma moeda (imaginária) a todo o nó no caminho desde o root até ao u </a:t>
            </a:r>
            <a:endParaRPr sz="2400"/>
          </a:p>
          <a:p>
            <a:pPr marL="457200" lvl="0" indent="-381000" algn="l" rtl="0">
              <a:lnSpc>
                <a:spcPct val="90000"/>
              </a:lnSpc>
              <a:spcBef>
                <a:spcPts val="0"/>
              </a:spcBef>
              <a:spcAft>
                <a:spcPts val="0"/>
              </a:spcAft>
              <a:buSzPts val="2400"/>
              <a:buChar char="•"/>
            </a:pPr>
            <a:r>
              <a:rPr lang="pt-PT" sz="2400"/>
              <a:t>Durante m inserções damos no máximo m log n moedas </a:t>
            </a:r>
            <a:endParaRPr sz="2400"/>
          </a:p>
          <a:p>
            <a:pPr marL="457200" lvl="0" indent="-381000" algn="l" rtl="0">
              <a:lnSpc>
                <a:spcPct val="90000"/>
              </a:lnSpc>
              <a:spcBef>
                <a:spcPts val="0"/>
              </a:spcBef>
              <a:spcAft>
                <a:spcPts val="0"/>
              </a:spcAft>
              <a:buSzPts val="2400"/>
              <a:buChar char="•"/>
            </a:pPr>
            <a:r>
              <a:rPr lang="pt-PT" sz="2400"/>
              <a:t>O número de moedas num nó a qualquer instante é no mínimo:</a:t>
            </a:r>
            <a:endParaRPr sz="2400"/>
          </a:p>
          <a:p>
            <a:pPr marL="914400" lvl="1" indent="-381000" algn="l" rtl="0">
              <a:lnSpc>
                <a:spcPct val="90000"/>
              </a:lnSpc>
              <a:spcBef>
                <a:spcPts val="0"/>
              </a:spcBef>
              <a:spcAft>
                <a:spcPts val="0"/>
              </a:spcAft>
              <a:buSzPts val="2400"/>
              <a:buChar char="•"/>
            </a:pPr>
            <a:r>
              <a:rPr lang="pt-PT" sz="2400"/>
              <a:t>|size(u.left) − size(u.right)| − 1 </a:t>
            </a:r>
            <a:endParaRPr sz="2400"/>
          </a:p>
          <a:p>
            <a:pPr marL="457200" lvl="0" indent="-381000" algn="l" rtl="0">
              <a:lnSpc>
                <a:spcPct val="90000"/>
              </a:lnSpc>
              <a:spcBef>
                <a:spcPts val="0"/>
              </a:spcBef>
              <a:spcAft>
                <a:spcPts val="0"/>
              </a:spcAft>
              <a:buSzPts val="2400"/>
              <a:buChar char="•"/>
            </a:pPr>
            <a:r>
              <a:rPr lang="pt-PT" sz="2400"/>
              <a:t>Quando reconstruímos uma subtree que contenha u ficamos com as moedas de u </a:t>
            </a:r>
            <a:endParaRPr sz="2400"/>
          </a:p>
          <a:p>
            <a:pPr marL="457200" lvl="0" indent="-381000" algn="l" rtl="0">
              <a:lnSpc>
                <a:spcPct val="90000"/>
              </a:lnSpc>
              <a:spcBef>
                <a:spcPts val="0"/>
              </a:spcBef>
              <a:spcAft>
                <a:spcPts val="0"/>
              </a:spcAft>
              <a:buSzPts val="2400"/>
              <a:buChar char="•"/>
            </a:pPr>
            <a:r>
              <a:rPr lang="pt-PT" sz="2400" b="1"/>
              <a:t>Afirmação:</a:t>
            </a:r>
            <a:r>
              <a:rPr lang="pt-PT" sz="2400"/>
              <a:t> Quando reconstruímos uma scapegoat v, levamos pelo menos (⅓)size(v) − 2 moedas</a:t>
            </a:r>
            <a:endParaRPr sz="2400"/>
          </a:p>
          <a:p>
            <a:pPr marL="457200" lvl="0" indent="-381000" algn="l" rtl="0">
              <a:lnSpc>
                <a:spcPct val="90000"/>
              </a:lnSpc>
              <a:spcBef>
                <a:spcPts val="0"/>
              </a:spcBef>
              <a:spcAft>
                <a:spcPts val="0"/>
              </a:spcAft>
              <a:buSzPts val="2400"/>
              <a:buChar char="•"/>
            </a:pPr>
            <a:r>
              <a:rPr lang="pt-PT" sz="2400"/>
              <a:t>Estas moedas pagam para que O(size(v)) trabalhe o necessário para reconstruir v </a:t>
            </a:r>
            <a:endParaRPr sz="2400"/>
          </a:p>
          <a:p>
            <a:pPr marL="457200" lvl="0" indent="-381000" algn="l" rtl="0">
              <a:lnSpc>
                <a:spcPct val="90000"/>
              </a:lnSpc>
              <a:spcBef>
                <a:spcPts val="0"/>
              </a:spcBef>
              <a:spcAft>
                <a:spcPts val="0"/>
              </a:spcAft>
              <a:buSzPts val="2400"/>
              <a:buChar char="•"/>
            </a:pPr>
            <a:r>
              <a:rPr lang="pt-PT" sz="2400"/>
              <a:t>O total de custos de reconstrução devido às inserções é O(m log n) </a:t>
            </a:r>
            <a:endParaRPr sz="2400"/>
          </a:p>
        </p:txBody>
      </p:sp>
      <p:sp>
        <p:nvSpPr>
          <p:cNvPr id="298" name="Google Shape;298;p41"/>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pt-PT"/>
              <a:t>Análise de inserção</a:t>
            </a:r>
            <a:endParaRPr/>
          </a:p>
        </p:txBody>
      </p:sp>
      <p:pic>
        <p:nvPicPr>
          <p:cNvPr id="299" name="Google Shape;299;p41"/>
          <p:cNvPicPr preferRelativeResize="0"/>
          <p:nvPr/>
        </p:nvPicPr>
        <p:blipFill rotWithShape="1">
          <a:blip r:embed="rId3">
            <a:alphaModFix/>
          </a:blip>
          <a:srcRect/>
          <a:stretch/>
        </p:blipFill>
        <p:spPr>
          <a:xfrm>
            <a:off x="5320279" y="6226554"/>
            <a:ext cx="1257941" cy="6050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42"/>
          <p:cNvSpPr txBox="1">
            <a:spLocks noGrp="1"/>
          </p:cNvSpPr>
          <p:nvPr>
            <p:ph type="body" idx="1"/>
          </p:nvPr>
        </p:nvSpPr>
        <p:spPr>
          <a:xfrm>
            <a:off x="838200" y="1825625"/>
            <a:ext cx="10692000" cy="4351200"/>
          </a:xfrm>
          <a:prstGeom prst="rect">
            <a:avLst/>
          </a:prstGeom>
          <a:noFill/>
          <a:ln>
            <a:noFill/>
          </a:ln>
        </p:spPr>
        <p:txBody>
          <a:bodyPr spcFirstLastPara="1" wrap="square" lIns="91425" tIns="45700" rIns="91425" bIns="45700" anchor="t" anchorCtr="0">
            <a:noAutofit/>
          </a:bodyPr>
          <a:lstStyle/>
          <a:p>
            <a:pPr marL="457200" lvl="0" indent="-381000" algn="l" rtl="0">
              <a:lnSpc>
                <a:spcPct val="90000"/>
              </a:lnSpc>
              <a:spcBef>
                <a:spcPts val="0"/>
              </a:spcBef>
              <a:spcAft>
                <a:spcPts val="0"/>
              </a:spcAft>
              <a:buSzPts val="2400"/>
              <a:buChar char="•"/>
            </a:pPr>
            <a:r>
              <a:rPr lang="pt-PT" sz="2400"/>
              <a:t>Teorema: O custo de procura numa scapegoat tree é O(log n) no seu pior caso. Começa com uma scapegoat tree vazia, o custo de uma sequência de m inserções e eliminações é O(m log n).</a:t>
            </a:r>
            <a:endParaRPr sz="2400"/>
          </a:p>
          <a:p>
            <a:pPr marL="457200" lvl="0" indent="-381000" algn="l" rtl="0">
              <a:lnSpc>
                <a:spcPct val="90000"/>
              </a:lnSpc>
              <a:spcBef>
                <a:spcPts val="0"/>
              </a:spcBef>
              <a:spcAft>
                <a:spcPts val="0"/>
              </a:spcAft>
              <a:buSzPts val="2400"/>
              <a:buChar char="•"/>
            </a:pPr>
            <a:r>
              <a:rPr lang="pt-PT" sz="2400"/>
              <a:t>As árvores Scapegoat trabalham habitualmente melhor do que se espera</a:t>
            </a:r>
            <a:endParaRPr sz="2400"/>
          </a:p>
          <a:p>
            <a:pPr marL="457200" lvl="0" indent="-381000" algn="l" rtl="0">
              <a:lnSpc>
                <a:spcPct val="90000"/>
              </a:lnSpc>
              <a:spcBef>
                <a:spcPts val="0"/>
              </a:spcBef>
              <a:spcAft>
                <a:spcPts val="0"/>
              </a:spcAft>
              <a:buSzPts val="2400"/>
              <a:buChar char="•"/>
            </a:pPr>
            <a:r>
              <a:rPr lang="pt-PT" sz="2400"/>
              <a:t>Se tivermos sorte nem é preciso reconstrução</a:t>
            </a:r>
            <a:endParaRPr sz="2400"/>
          </a:p>
        </p:txBody>
      </p:sp>
      <p:sp>
        <p:nvSpPr>
          <p:cNvPr id="305" name="Google Shape;305;p42"/>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pt-PT"/>
              <a:t>Sumário</a:t>
            </a:r>
            <a:endParaRPr/>
          </a:p>
        </p:txBody>
      </p:sp>
      <p:pic>
        <p:nvPicPr>
          <p:cNvPr id="306" name="Google Shape;306;p42"/>
          <p:cNvPicPr preferRelativeResize="0"/>
          <p:nvPr/>
        </p:nvPicPr>
        <p:blipFill rotWithShape="1">
          <a:blip r:embed="rId3">
            <a:alphaModFix/>
          </a:blip>
          <a:srcRect/>
          <a:stretch/>
        </p:blipFill>
        <p:spPr>
          <a:xfrm>
            <a:off x="5320279" y="6226554"/>
            <a:ext cx="1257941" cy="605050"/>
          </a:xfrm>
          <a:prstGeom prst="rect">
            <a:avLst/>
          </a:prstGeom>
          <a:noFill/>
          <a:ln>
            <a:noFill/>
          </a:ln>
        </p:spPr>
      </p:pic>
    </p:spTree>
  </p:cSld>
  <p:clrMapOvr>
    <a:masterClrMapping/>
  </p:clrMapOvr>
</p:sld>
</file>

<file path=ppt/theme/theme1.xml><?xml version="1.0" encoding="utf-8"?>
<a:theme xmlns:a="http://schemas.openxmlformats.org/drawingml/2006/main" name="Tema do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1382</Words>
  <Application>Microsoft Office PowerPoint</Application>
  <PresentationFormat>Widescreen</PresentationFormat>
  <Paragraphs>134</Paragraphs>
  <Slides>30</Slides>
  <Notes>30</Notes>
  <HiddenSlides>0</HiddenSlides>
  <MMClips>0</MMClips>
  <ScaleCrop>false</ScaleCrop>
  <HeadingPairs>
    <vt:vector size="6" baseType="variant">
      <vt:variant>
        <vt:lpstr>Fontes usadas</vt:lpstr>
      </vt:variant>
      <vt:variant>
        <vt:i4>3</vt:i4>
      </vt:variant>
      <vt:variant>
        <vt:lpstr>Tema</vt:lpstr>
      </vt:variant>
      <vt:variant>
        <vt:i4>1</vt:i4>
      </vt:variant>
      <vt:variant>
        <vt:lpstr>Títulos de slides</vt:lpstr>
      </vt:variant>
      <vt:variant>
        <vt:i4>30</vt:i4>
      </vt:variant>
    </vt:vector>
  </HeadingPairs>
  <TitlesOfParts>
    <vt:vector size="34" baseType="lpstr">
      <vt:lpstr>Calibri</vt:lpstr>
      <vt:lpstr>Arial</vt:lpstr>
      <vt:lpstr>Bell MT</vt:lpstr>
      <vt:lpstr>Tema do Office</vt:lpstr>
      <vt:lpstr>Scapegoat Tree</vt:lpstr>
      <vt:lpstr>Contextualização</vt:lpstr>
      <vt:lpstr>Contextualização</vt:lpstr>
      <vt:lpstr>Treaps and skiplists</vt:lpstr>
      <vt:lpstr>Scapegoat trees</vt:lpstr>
      <vt:lpstr>Apresentação do PowerPoint</vt:lpstr>
      <vt:lpstr>Apresentação do PowerPoint</vt:lpstr>
      <vt:lpstr>Apresentação do PowerPoint</vt:lpstr>
      <vt:lpstr>Remover na Scapegoat tree</vt:lpstr>
      <vt:lpstr>Remover na Scapegoat tree</vt:lpstr>
      <vt:lpstr>Inserir na Scapegoat tree</vt:lpstr>
      <vt:lpstr>Exemplo de Inserção (good case)</vt:lpstr>
      <vt:lpstr>Exemplo de Inserção (good case)</vt:lpstr>
      <vt:lpstr>Exemplo de Inserção (good case)</vt:lpstr>
      <vt:lpstr>Exemplo de Inserção (good case)</vt:lpstr>
      <vt:lpstr>Exemplo de Inserção (bad case)</vt:lpstr>
      <vt:lpstr>Exemplo de Inserção (bad case)</vt:lpstr>
      <vt:lpstr>Exemplo de Inserção (bad case)</vt:lpstr>
      <vt:lpstr>Exemplo de Inserção (bad case)</vt:lpstr>
      <vt:lpstr>Exemplo de Inserção (bad case)</vt:lpstr>
      <vt:lpstr>Exemplo de Inserção (bad case)</vt:lpstr>
      <vt:lpstr>Exemplo de Inserção (bad case)</vt:lpstr>
      <vt:lpstr>Exemplo de Inserção (bad case)</vt:lpstr>
      <vt:lpstr>Quando existe Scapegoat?</vt:lpstr>
      <vt:lpstr>Tamanho</vt:lpstr>
      <vt:lpstr>Controlar o Tamanho</vt:lpstr>
      <vt:lpstr>Não controlar o Tamanho</vt:lpstr>
      <vt:lpstr>Análise de eliminação</vt:lpstr>
      <vt:lpstr>Análise de inserção</vt:lpstr>
      <vt:lpstr>Sumário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Scapegoat Tree</dc:title>
  <dc:creator>Daniel Ribeiro</dc:creator>
  <cp:lastModifiedBy>Daniel Ribeiro</cp:lastModifiedBy>
  <cp:revision>2</cp:revision>
  <dcterms:modified xsi:type="dcterms:W3CDTF">2018-12-17T11:31:45Z</dcterms:modified>
</cp:coreProperties>
</file>